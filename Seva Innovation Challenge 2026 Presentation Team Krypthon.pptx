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ecdc258b684eaf" /><Relationship Type="http://schemas.openxmlformats.org/officeDocument/2006/relationships/extended-properties" Target="/docProps/app.xml" Id="R32e5f98c776248cc" /><Relationship Type="http://schemas.openxmlformats.org/officeDocument/2006/relationships/officeDocument" Target="/ppt/presentation.xml" Id="Re07bb380a2914d6d" /></Relationships>
</file>

<file path=ppt/presentation.xml><?xml version="1.0" encoding="utf-8"?>
<p:presentation xmlns:p="http://schemas.openxmlformats.org/presentationml/2006/main">
  <p:sldMasterIdLst>
    <p:sldMasterId xmlns:r="http://schemas.openxmlformats.org/officeDocument/2006/relationships" id="2147483648" r:id="Re23858a313514695"/>
  </p:sldMasterIdLst>
  <p:notesMasterIdLst>
    <p:notesMasterId xmlns:r="http://schemas.openxmlformats.org/officeDocument/2006/relationships" r:id="R77a036bd73534d97"/>
  </p:notesMasterIdLst>
  <p:sldIdLst>
    <p:sldId xmlns:r="http://schemas.openxmlformats.org/officeDocument/2006/relationships" id="256" r:id="R5e2ce22f19e34658"/>
    <p:sldId xmlns:r="http://schemas.openxmlformats.org/officeDocument/2006/relationships" id="257" r:id="R7a26338b058e423b"/>
    <p:sldId xmlns:r="http://schemas.openxmlformats.org/officeDocument/2006/relationships" id="258" r:id="R01e4f64d9727402f"/>
    <p:sldId xmlns:r="http://schemas.openxmlformats.org/officeDocument/2006/relationships" id="259" r:id="R7eb5cdeb5b8a4b44"/>
    <p:sldId xmlns:r="http://schemas.openxmlformats.org/officeDocument/2006/relationships" id="260" r:id="R8326cdd4521046f6"/>
    <p:sldId xmlns:r="http://schemas.openxmlformats.org/officeDocument/2006/relationships" id="261" r:id="R78e326b9f4074396"/>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7a6af7cce644398" /><Relationship Type="http://schemas.openxmlformats.org/officeDocument/2006/relationships/slideMaster" Target="/ppt/slideMasters/slideMaster1.xml" Id="Re23858a313514695" /><Relationship Type="http://schemas.openxmlformats.org/officeDocument/2006/relationships/notesMaster" Target="/ppt/notesMasters/notesMaster1.xml" Id="R77a036bd73534d97" /><Relationship Type="http://schemas.openxmlformats.org/officeDocument/2006/relationships/presProps" Target="/ppt/presProps.xml" Id="R64fad0999c884a2e" /><Relationship Type="http://schemas.openxmlformats.org/officeDocument/2006/relationships/viewProps" Target="/ppt/viewProps.xml" Id="Ra17a5ddbbddd46d4" /><Relationship Type="http://schemas.openxmlformats.org/officeDocument/2006/relationships/tableStyles" Target="/ppt/tableStyles.xml" Id="Rc6edb8f9bf0a4207" /><Relationship Type="http://schemas.openxmlformats.org/officeDocument/2006/relationships/slide" Target="/ppt/slides/slide1.xml" Id="R5e2ce22f19e34658" /><Relationship Type="http://schemas.openxmlformats.org/officeDocument/2006/relationships/slide" Target="/ppt/slides/slide2.xml" Id="R7a26338b058e423b" /><Relationship Type="http://schemas.openxmlformats.org/officeDocument/2006/relationships/slide" Target="/ppt/slides/slide3.xml" Id="R01e4f64d9727402f" /><Relationship Type="http://schemas.openxmlformats.org/officeDocument/2006/relationships/slide" Target="/ppt/slides/slide4.xml" Id="R7eb5cdeb5b8a4b44" /><Relationship Type="http://schemas.openxmlformats.org/officeDocument/2006/relationships/slide" Target="/ppt/slides/slide5.xml" Id="R8326cdd4521046f6" /><Relationship Type="http://schemas.openxmlformats.org/officeDocument/2006/relationships/slide" Target="/ppt/slides/slide6.xml" Id="R78e326b9f40743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a4ff836cf649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66934d6432437b" /><Relationship Type="http://schemas.openxmlformats.org/officeDocument/2006/relationships/notesMaster" Target="/ppt/notesMasters/notesMaster1.xml" Id="Re13a06b24b4142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2274e14ea9489c" /><Relationship Type="http://schemas.openxmlformats.org/officeDocument/2006/relationships/notesMaster" Target="/ppt/notesMasters/notesMaster1.xml" Id="R72fce8b3b5374d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b38e83d94a41c4" /><Relationship Type="http://schemas.openxmlformats.org/officeDocument/2006/relationships/notesMaster" Target="/ppt/notesMasters/notesMaster1.xml" Id="Rd2dc37b7a63a4f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5be7cf62fc4427" /><Relationship Type="http://schemas.openxmlformats.org/officeDocument/2006/relationships/notesMaster" Target="/ppt/notesMasters/notesMaster1.xml" Id="R8975e38dba2e40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83c2a55f494e61" /><Relationship Type="http://schemas.openxmlformats.org/officeDocument/2006/relationships/notesMaster" Target="/ppt/notesMasters/notesMaster1.xml" Id="Rd394da3c3bd142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f8c958aba14116" /><Relationship Type="http://schemas.openxmlformats.org/officeDocument/2006/relationships/notesMaster" Target="/ppt/notesMasters/notesMaster1.xml" Id="Rf48ea4d9a48a4b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slide. Fill every field exactly as entered in the online application form so reviewers can match the deck to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Reviewers look for a clearly defined, real and significant problem backed by evidence. One strong statistic is better than many weak ones. Cite the source for every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clearly how the solution addresses the problem on Slide 2. Compare against what exists today — reviewers score originality and relevance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realistic. A clear, costed plan with an identified adopting department scores better than an ambitious but vague one. Mention any validation already done (tests, user feedback, certifications).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Quantify impact wherever possible and state your assumptions. Where relevant, link the solution to an existing Government scheme, mission or the Sustainable Development 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 only active team members. Be specific about the support requested — it helps the organisers match you with the right mentor, department or incubator.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175b439a0e47e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756cd67a2a4fd1" /><Relationship Type="http://schemas.openxmlformats.org/officeDocument/2006/relationships/slideLayout" Target="/ppt/slideLayouts/slideLayout1.xml" Id="R075aeb75b27049a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5aeb75b27049a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ae2d0d7b5a4060" /><Relationship Type="http://schemas.openxmlformats.org/officeDocument/2006/relationships/image" Target="/ppt/media/image.png" Id="R1ab6b2d71f8b4352" /><Relationship Type="http://schemas.openxmlformats.org/officeDocument/2006/relationships/notesSlide" Target="/ppt/notesSlides/notesSlide1.xml" Id="R90d2e3b9af7b4e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e2f5bb7b49466f" /><Relationship Type="http://schemas.openxmlformats.org/officeDocument/2006/relationships/notesSlide" Target="/ppt/notesSlides/notesSlide2.xml" Id="R3a3caf9399bf4c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6bf9f8c3154bbc" /><Relationship Type="http://schemas.openxmlformats.org/officeDocument/2006/relationships/notesSlide" Target="/ppt/notesSlides/notesSlide3.xml" Id="R8087be7801e848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c9f8ba4fc242cc" /><Relationship Type="http://schemas.openxmlformats.org/officeDocument/2006/relationships/notesSlide" Target="/ppt/notesSlides/notesSlide4.xml" Id="R3c834f42ea524e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20d5b539354c17" /><Relationship Type="http://schemas.openxmlformats.org/officeDocument/2006/relationships/notesSlide" Target="/ppt/notesSlides/notesSlide5.xml" Id="R0c3318e7d75746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02aa9566654c24" /><Relationship Type="http://schemas.openxmlformats.org/officeDocument/2006/relationships/notesSlide" Target="/ppt/notesSlides/notesSlide6.xml" Id="Rd0e9d3443d004927" /></Relationships>
</file>

<file path=ppt/slides/slide1.xml><?xml version="1.0" encoding="utf-8"?>
<p:sld xmlns:p="http://schemas.openxmlformats.org/presentationml/2006/main">
  <p:cSld>
    <p:bg>
      <p:bgPr>
        <a:solidFill xmlns:a="http://schemas.openxmlformats.org/drawingml/2006/main">
          <a:srgbClr val="1B2A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B2F1F8-EB79-46EA-88C3-4CF94DDFE762}"/>
              </a:ext>
            </a:extLst>
          </p:cNvPr>
          <p:cNvSpPr>
            <a:spLocks xmlns:a="http://schemas.openxmlformats.org/drawingml/2006/main" noGrp="1"/>
          </p:cNvSpPr>
          <p:nvPr/>
        </p:nvSpPr>
        <p:spPr>
          <a:xfrm xmlns:a="http://schemas.openxmlformats.org/drawingml/2006/main">
            <a:off x="45720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spc="200">
                <a:solidFill>
                  <a:srgbClr val="F28C28"/>
                </a:solidFill>
                <a:latin typeface="Nirmala UI"/>
                <a:ea typeface="Nirmala UI"/>
                <a:cs typeface="Nirmala UI"/>
              </a:rPr>
              <a:t>SEVA INNOVATION CHALLENGE 2026  •  TEAM KRYPTHON</a:t>
            </a:r>
            <a:endParaRPr sz="1000"/>
          </a:p>
        </p:txBody>
      </p:sp>
      <p:sp>
        <p:nvSpPr>
          <p:cNvPr id="3" name="Text 1">
            <a:extLst xmlns:a="http://schemas.openxmlformats.org/drawingml/2006/main">
              <a:ext uri="{FF2B5EF4-FFF2-40B4-BE49-F238E27FC236}">
                <a16:creationId xmlns:a16="http://schemas.microsoft.com/office/drawing/2014/main" id="{2D1206B1-E2C2-4E30-958A-1E2FB1B78197}"/>
              </a:ext>
            </a:extLst>
          </p:cNvPr>
          <p:cNvSpPr>
            <a:spLocks xmlns:a="http://schemas.openxmlformats.org/drawingml/2006/main" noGrp="1"/>
          </p:cNvSpPr>
          <p:nvPr/>
        </p:nvSpPr>
        <p:spPr>
          <a:xfrm xmlns:a="http://schemas.openxmlformats.org/drawingml/2006/main">
            <a:off x="457200" y="731520"/>
            <a:ext cx="7399606"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FFFFFF"/>
                </a:solidFill>
                <a:latin typeface="Nirmala UI"/>
                <a:ea typeface="Nirmala UI"/>
                <a:cs typeface="Nirmala UI"/>
              </a:rPr>
              <a:t>Marathi-First Offline Health Assistant</a:t>
            </a:r>
            <a:endParaRPr sz="2800"/>
          </a:p>
        </p:txBody>
      </p:sp>
      <p:sp>
        <p:nvSpPr>
          <p:cNvPr id="4" name="Text 2">
            <a:extLst xmlns:a="http://schemas.openxmlformats.org/drawingml/2006/main">
              <a:ext uri="{FF2B5EF4-FFF2-40B4-BE49-F238E27FC236}">
                <a16:creationId xmlns:a16="http://schemas.microsoft.com/office/drawing/2014/main" id="{5F0C8B99-3288-4D84-BC77-4C4C73C40F88}"/>
              </a:ext>
            </a:extLst>
          </p:cNvPr>
          <p:cNvSpPr>
            <a:spLocks xmlns:a="http://schemas.openxmlformats.org/drawingml/2006/main" noGrp="1"/>
          </p:cNvSpPr>
          <p:nvPr/>
        </p:nvSpPr>
        <p:spPr>
          <a:xfrm xmlns:a="http://schemas.openxmlformats.org/drawingml/2006/main">
            <a:off x="457200" y="1290363"/>
            <a:ext cx="8233117"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chemeClr val="bg1">
                    <a:lumMod val="85000"/>
                  </a:schemeClr>
                </a:solidFill>
                <a:latin typeface="Nirmala UI"/>
                <a:ea typeface="Nirmala UI"/>
                <a:cs typeface="Nirmala UI"/>
              </a:rPr>
              <a:t>A Marathi-first, offline-first health assistant with voice-assisted visit entry and a built-in clinical rules engine to record visits, flag risks and track follow-ups.</a:t>
            </a:r>
            <a:endParaRPr sz="1200">
              <a:solidFill>
                <a:schemeClr val="bg1">
                  <a:lumMod val="85000"/>
                </a:schemeClr>
              </a:solidFill>
            </a:endParaRPr>
          </a:p>
        </p:txBody>
      </p:sp>
      <p:sp>
        <p:nvSpPr>
          <p:cNvPr id="17" name="Shape 15">
            <a:extLst xmlns:a="http://schemas.openxmlformats.org/drawingml/2006/main">
              <a:ext uri="{FF2B5EF4-FFF2-40B4-BE49-F238E27FC236}">
                <a16:creationId xmlns:a16="http://schemas.microsoft.com/office/drawing/2014/main" id="{E89949FC-87F0-48D2-9201-DC2A9B03E47A}"/>
              </a:ext>
            </a:extLst>
          </p:cNvPr>
          <p:cNvSpPr>
            <a:spLocks xmlns:a="http://schemas.openxmlformats.org/drawingml/2006/main" noGrp="1"/>
          </p:cNvSpPr>
          <p:nvPr/>
        </p:nvSpPr>
        <p:spPr>
          <a:xfrm xmlns:a="http://schemas.openxmlformats.org/drawingml/2006/main">
            <a:off x="5992837" y="1841632"/>
            <a:ext cx="2345448" cy="3017172"/>
          </a:xfrm>
          <a:prstGeom xmlns:a="http://schemas.openxmlformats.org/drawingml/2006/main" prst="roundRect">
            <a:avLst>
              <a:gd name="adj" fmla="val 3226"/>
            </a:avLst>
          </a:prstGeom>
          <a:solidFill xmlns:a="http://schemas.openxmlformats.org/drawingml/2006/main">
            <a:srgbClr val="253870"/>
          </a:solidFill>
          <a:ln xmlns:a="http://schemas.openxmlformats.org/drawingml/2006/main" w="12700">
            <a:solidFill>
              <a:srgbClr val="25387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7325819A-63B4-4296-92F1-0409331F4F47}"/>
              </a:ext>
            </a:extLst>
          </p:cNvPr>
          <p:cNvSpPr>
            <a:spLocks xmlns:a="http://schemas.openxmlformats.org/drawingml/2006/main" noGrp="1"/>
          </p:cNvSpPr>
          <p:nvPr/>
        </p:nvSpPr>
        <p:spPr>
          <a:xfrm xmlns:a="http://schemas.openxmlformats.org/drawingml/2006/main">
            <a:off x="6175717" y="2338087"/>
            <a:ext cx="1983545" cy="3984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F28C28"/>
                </a:solidFill>
                <a:latin typeface="Nirmala UI"/>
                <a:ea typeface="Nirmala UI"/>
                <a:cs typeface="Nirmala UI"/>
              </a:rPr>
              <a:t>Concept at a glance</a:t>
            </a:r>
            <a:endParaRPr sz="1300"/>
          </a:p>
        </p:txBody>
      </p:sp>
      <p:sp>
        <p:nvSpPr>
          <p:cNvPr id="19" name="Text 17">
            <a:extLst xmlns:a="http://schemas.openxmlformats.org/drawingml/2006/main">
              <a:ext uri="{FF2B5EF4-FFF2-40B4-BE49-F238E27FC236}">
                <a16:creationId xmlns:a16="http://schemas.microsoft.com/office/drawing/2014/main" id="{03F92CF5-129C-4297-AADA-2CDA6A71C013}"/>
              </a:ext>
            </a:extLst>
          </p:cNvPr>
          <p:cNvSpPr>
            <a:spLocks xmlns:a="http://schemas.openxmlformats.org/drawingml/2006/main" noGrp="1"/>
          </p:cNvSpPr>
          <p:nvPr/>
        </p:nvSpPr>
        <p:spPr>
          <a:xfrm xmlns:a="http://schemas.openxmlformats.org/drawingml/2006/main">
            <a:off x="6175717" y="2775733"/>
            <a:ext cx="1983545" cy="15852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1450" indent="-171450">
              <a:spcAft>
                <a:spcPts val="700"/>
              </a:spcAft>
              <a:buSzPct val="100000"/>
              <a:buFont typeface="Arial"/>
              <a:buChar char="•"/>
            </a:pPr>
            <a:r>
              <a:rPr sz="1050" b="1">
                <a:solidFill>
                  <a:srgbClr val="FFFFFF"/>
                </a:solidFill>
                <a:latin typeface="Nirmala UI"/>
                <a:ea typeface="Nirmala UI"/>
                <a:cs typeface="Nirmala UI"/>
              </a:rPr>
              <a:t>An installable web app (PWA) for basic smartphones in rural Maharashtra. </a:t>
            </a:r>
          </a:p>
          <a:p xmlns:a="http://schemas.openxmlformats.org/drawingml/2006/main">
            <a:pPr marL="171450" indent="-171450">
              <a:spcAft>
                <a:spcPts val="700"/>
              </a:spcAft>
              <a:buSzPct val="100000"/>
              <a:buFont typeface="Arial"/>
              <a:buChar char="•"/>
            </a:pPr>
            <a:r>
              <a:rPr sz="1050" b="1">
                <a:solidFill>
                  <a:srgbClr val="FFFFFF"/>
                </a:solidFill>
                <a:latin typeface="Nirmala UI"/>
                <a:ea typeface="Nirmala UI"/>
                <a:cs typeface="Nirmala UI"/>
              </a:rPr>
              <a:t>Marathi speech entry when available; offline audio capture or quick presets. Visits queue for sync; follow-ups stay in-app.</a:t>
            </a:r>
            <a:endParaRPr sz="1050" b="1"/>
          </a:p>
        </p:txBody>
      </p:sp>
      <p:pic>
        <p:nvPicPr>
          <p:cNvPr id="7" name="Picture 6">
            <a:extLst xmlns:a="http://schemas.openxmlformats.org/drawingml/2006/main">
              <a:ext uri="{FF2B5EF4-FFF2-40B4-BE49-F238E27FC236}">
                <a16:creationId xmlns:a16="http://schemas.microsoft.com/office/drawing/2014/main" id="{51CB7EA3-EB5A-4322-8798-BA785283B467}"/>
              </a:ext>
            </a:extLst>
          </p:cNvPr>
          <p:cNvPicPr>
            <a:picLocks xmlns:a="http://schemas.openxmlformats.org/drawingml/2006/main" noChangeAspect="1"/>
          </p:cNvPicPr>
          <p:nvPr/>
        </p:nvPicPr>
        <p:blipFill>
          <a:blip xmlns:r="http://schemas.openxmlformats.org/officeDocument/2006/relationships" xmlns:a="http://schemas.openxmlformats.org/drawingml/2006/main" r:embed="R1ab6b2d71f8b4352"/>
          <a:stretch xmlns:a="http://schemas.openxmlformats.org/drawingml/2006/main">
            <a:fillRect l="0" t="0" r="0" b="0"/>
          </a:stretch>
        </p:blipFill>
        <p:spPr>
          <a:xfrm xmlns:a="http://schemas.openxmlformats.org/drawingml/2006/main">
            <a:off x="457200" y="1841632"/>
            <a:ext cx="5363862" cy="3017172"/>
          </a:xfrm>
          <a:prstGeom xmlns:a="http://schemas.openxmlformats.org/drawingml/2006/main" prst="rect">
            <a:avLst/>
          </a:prstGeom>
        </p:spPr>
      </p:pic>
    </p:spTree>
    <p:extLst>
      <p:ext uri="{BB962C8B-B14F-4D97-AF65-F5344CB8AC3E}">
        <p14:creationId xmlns:p14="http://schemas.microsoft.com/office/powerpoint/2010/main" val="1488332849"/>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1053A7-09B5-4A96-A107-ACC4E1438F5B}"/>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1ED23CD6-3589-4CD7-B462-842D8CB28444}"/>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2</a:t>
            </a:r>
            <a:endParaRPr sz="1540"/>
          </a:p>
        </p:txBody>
      </p:sp>
      <p:sp>
        <p:nvSpPr>
          <p:cNvPr id="4" name="Text 2">
            <a:extLst xmlns:a="http://schemas.openxmlformats.org/drawingml/2006/main">
              <a:ext uri="{FF2B5EF4-FFF2-40B4-BE49-F238E27FC236}">
                <a16:creationId xmlns:a16="http://schemas.microsoft.com/office/drawing/2014/main" id="{F82469BB-AE10-46F5-96D4-ABFBD5E7E756}"/>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The Problem</a:t>
            </a:r>
            <a:endParaRPr sz="2600"/>
          </a:p>
        </p:txBody>
      </p:sp>
      <p:sp>
        <p:nvSpPr>
          <p:cNvPr id="5" name="Text 3">
            <a:extLst xmlns:a="http://schemas.openxmlformats.org/drawingml/2006/main">
              <a:ext uri="{FF2B5EF4-FFF2-40B4-BE49-F238E27FC236}">
                <a16:creationId xmlns:a16="http://schemas.microsoft.com/office/drawing/2014/main" id="{058D15A1-44E2-4366-B171-6A0A4AC3E94F}"/>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chemeClr val="accent3">
                    <a:lumMod val="75000"/>
                  </a:schemeClr>
                </a:solidFill>
                <a:latin typeface="Nirmala UI"/>
                <a:ea typeface="Nirmala UI"/>
                <a:cs typeface="Nirmala UI"/>
              </a:rPr>
              <a:t>What real challenge in society, government service or industry are you solving?</a:t>
            </a:r>
            <a:endParaRPr sz="1100">
              <a:solidFill>
                <a:schemeClr val="accent3">
                  <a:lumMod val="75000"/>
                </a:schemeClr>
              </a:solidFill>
            </a:endParaRPr>
          </a:p>
        </p:txBody>
      </p:sp>
      <p:sp>
        <p:nvSpPr>
          <p:cNvPr id="6" name="Text 4">
            <a:extLst xmlns:a="http://schemas.openxmlformats.org/drawingml/2006/main">
              <a:ext uri="{FF2B5EF4-FFF2-40B4-BE49-F238E27FC236}">
                <a16:creationId xmlns:a16="http://schemas.microsoft.com/office/drawing/2014/main" id="{184558E8-E995-4AA6-A71E-68AF7F03FD6E}"/>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2 of 6</a:t>
            </a:r>
            <a:endParaRPr sz="800"/>
          </a:p>
        </p:txBody>
      </p:sp>
      <p:sp>
        <p:nvSpPr>
          <p:cNvPr id="7" name="Shape 5">
            <a:extLst xmlns:a="http://schemas.openxmlformats.org/drawingml/2006/main">
              <a:ext uri="{FF2B5EF4-FFF2-40B4-BE49-F238E27FC236}">
                <a16:creationId xmlns:a16="http://schemas.microsoft.com/office/drawing/2014/main" id="{7F720BB1-3031-44B3-8CAD-9460259C13C4}"/>
              </a:ext>
            </a:extLst>
          </p:cNvPr>
          <p:cNvSpPr>
            <a:spLocks xmlns:a="http://schemas.openxmlformats.org/drawingml/2006/main" noGrp="1"/>
          </p:cNvSpPr>
          <p:nvPr/>
        </p:nvSpPr>
        <p:spPr>
          <a:xfrm xmlns:a="http://schemas.openxmlformats.org/drawingml/2006/main">
            <a:off x="457200" y="1188720"/>
            <a:ext cx="2743200" cy="160020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071C94A-122C-40AF-8B57-AE1E4F957BE8}"/>
              </a:ext>
            </a:extLst>
          </p:cNvPr>
          <p:cNvSpPr>
            <a:spLocks xmlns:a="http://schemas.openxmlformats.org/drawingml/2006/main" noGrp="1"/>
          </p:cNvSpPr>
          <p:nvPr/>
        </p:nvSpPr>
        <p:spPr>
          <a:xfrm xmlns:a="http://schemas.openxmlformats.org/drawingml/2006/main">
            <a:off x="594360" y="129844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What is the problem?</a:t>
            </a:r>
            <a:endParaRPr sz="1200"/>
          </a:p>
        </p:txBody>
      </p:sp>
      <p:sp>
        <p:nvSpPr>
          <p:cNvPr id="9" name="Text 7">
            <a:extLst xmlns:a="http://schemas.openxmlformats.org/drawingml/2006/main">
              <a:ext uri="{FF2B5EF4-FFF2-40B4-BE49-F238E27FC236}">
                <a16:creationId xmlns:a16="http://schemas.microsoft.com/office/drawing/2014/main" id="{5FE12582-C050-4384-9664-1C25E3709C86}"/>
              </a:ext>
            </a:extLst>
          </p:cNvPr>
          <p:cNvSpPr>
            <a:spLocks xmlns:a="http://schemas.openxmlformats.org/drawingml/2006/main" noGrp="1"/>
          </p:cNvSpPr>
          <p:nvPr/>
        </p:nvSpPr>
        <p:spPr>
          <a:xfrm xmlns:a="http://schemas.openxmlformats.org/drawingml/2006/main">
            <a:off x="594360" y="1572768"/>
            <a:ext cx="24688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ASHA and Anganwadi workers struggle to complete timely follow-ups for pregnant women and children. Most digital tools require English or Hindi, typing skills and constant internet, while paper registers consume time and can delay or miss high-risk records.</a:t>
            </a:r>
            <a:endParaRPr sz="1000">
              <a:solidFill>
                <a:schemeClr val="accent3">
                  <a:lumMod val="75000"/>
                </a:schemeClr>
              </a:solidFill>
            </a:endParaRPr>
          </a:p>
        </p:txBody>
      </p:sp>
      <p:sp>
        <p:nvSpPr>
          <p:cNvPr id="10" name="Shape 8">
            <a:extLst xmlns:a="http://schemas.openxmlformats.org/drawingml/2006/main">
              <a:ext uri="{FF2B5EF4-FFF2-40B4-BE49-F238E27FC236}">
                <a16:creationId xmlns:a16="http://schemas.microsoft.com/office/drawing/2014/main" id="{2BD0AA7C-73E3-41DF-88A7-A34532D8E8FD}"/>
              </a:ext>
            </a:extLst>
          </p:cNvPr>
          <p:cNvSpPr>
            <a:spLocks xmlns:a="http://schemas.openxmlformats.org/drawingml/2006/main" noGrp="1"/>
          </p:cNvSpPr>
          <p:nvPr/>
        </p:nvSpPr>
        <p:spPr>
          <a:xfrm xmlns:a="http://schemas.openxmlformats.org/drawingml/2006/main">
            <a:off x="3383280" y="1188720"/>
            <a:ext cx="2743200" cy="160020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AD8864C0-F3AE-4108-8BDE-97F37430B93F}"/>
              </a:ext>
            </a:extLst>
          </p:cNvPr>
          <p:cNvSpPr>
            <a:spLocks xmlns:a="http://schemas.openxmlformats.org/drawingml/2006/main" noGrp="1"/>
          </p:cNvSpPr>
          <p:nvPr/>
        </p:nvSpPr>
        <p:spPr>
          <a:xfrm xmlns:a="http://schemas.openxmlformats.org/drawingml/2006/main">
            <a:off x="3520440" y="129844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Who is affected, and where?</a:t>
            </a:r>
            <a:endParaRPr sz="1200"/>
          </a:p>
        </p:txBody>
      </p:sp>
      <p:sp>
        <p:nvSpPr>
          <p:cNvPr id="12" name="Text 10">
            <a:extLst xmlns:a="http://schemas.openxmlformats.org/drawingml/2006/main">
              <a:ext uri="{FF2B5EF4-FFF2-40B4-BE49-F238E27FC236}">
                <a16:creationId xmlns:a16="http://schemas.microsoft.com/office/drawing/2014/main" id="{D2E98AC3-7A1D-4657-A7E4-7A34028BF79E}"/>
              </a:ext>
            </a:extLst>
          </p:cNvPr>
          <p:cNvSpPr>
            <a:spLocks xmlns:a="http://schemas.openxmlformats.org/drawingml/2006/main" noGrp="1"/>
          </p:cNvSpPr>
          <p:nvPr/>
        </p:nvSpPr>
        <p:spPr>
          <a:xfrm xmlns:a="http://schemas.openxmlformats.org/drawingml/2006/main">
            <a:off x="3520440" y="1572768"/>
            <a:ext cx="24688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Approximately 50,000–70,000 ASHA and Anganwadi workers across rural Maharashtra, serving more than 20–25 lakh pregnant women and children under five each year.</a:t>
            </a:r>
            <a:endParaRPr sz="1000">
              <a:solidFill>
                <a:schemeClr val="accent3">
                  <a:lumMod val="75000"/>
                </a:schemeClr>
              </a:solidFill>
            </a:endParaRPr>
          </a:p>
        </p:txBody>
      </p:sp>
      <p:sp>
        <p:nvSpPr>
          <p:cNvPr id="13" name="Shape 11">
            <a:extLst xmlns:a="http://schemas.openxmlformats.org/drawingml/2006/main">
              <a:ext uri="{FF2B5EF4-FFF2-40B4-BE49-F238E27FC236}">
                <a16:creationId xmlns:a16="http://schemas.microsoft.com/office/drawing/2014/main" id="{02C0B4D4-6F7E-4BA3-B213-A16BE69A756B}"/>
              </a:ext>
            </a:extLst>
          </p:cNvPr>
          <p:cNvSpPr>
            <a:spLocks xmlns:a="http://schemas.openxmlformats.org/drawingml/2006/main" noGrp="1"/>
          </p:cNvSpPr>
          <p:nvPr/>
        </p:nvSpPr>
        <p:spPr>
          <a:xfrm xmlns:a="http://schemas.openxmlformats.org/drawingml/2006/main">
            <a:off x="457200" y="2971800"/>
            <a:ext cx="2743200" cy="164592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F7EC56D3-BF86-446D-A500-AE8473383D7B}"/>
              </a:ext>
            </a:extLst>
          </p:cNvPr>
          <p:cNvSpPr>
            <a:spLocks xmlns:a="http://schemas.openxmlformats.org/drawingml/2006/main" noGrp="1"/>
          </p:cNvSpPr>
          <p:nvPr/>
        </p:nvSpPr>
        <p:spPr>
          <a:xfrm xmlns:a="http://schemas.openxmlformats.org/drawingml/2006/main">
            <a:off x="594360" y="308152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Evidence</a:t>
            </a:r>
            <a:endParaRPr sz="1200"/>
          </a:p>
        </p:txBody>
      </p:sp>
      <p:sp>
        <p:nvSpPr>
          <p:cNvPr id="15" name="Text 13">
            <a:extLst xmlns:a="http://schemas.openxmlformats.org/drawingml/2006/main">
              <a:ext uri="{FF2B5EF4-FFF2-40B4-BE49-F238E27FC236}">
                <a16:creationId xmlns:a16="http://schemas.microsoft.com/office/drawing/2014/main" id="{83D06A63-DFBD-411E-8A62-EA991031FF79}"/>
              </a:ext>
            </a:extLst>
          </p:cNvPr>
          <p:cNvSpPr>
            <a:spLocks xmlns:a="http://schemas.openxmlformats.org/drawingml/2006/main" noGrp="1"/>
          </p:cNvSpPr>
          <p:nvPr/>
        </p:nvSpPr>
        <p:spPr>
          <a:xfrm xmlns:a="http://schemas.openxmlformats.org/drawingml/2006/main">
            <a:off x="594360" y="3355848"/>
            <a:ext cx="24688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Estimated target reach: 50,000–70,000 frontline workers and 20–25 lakh mothers and young children annually.</a:t>
            </a:r>
            <a:endParaRPr sz="1000">
              <a:solidFill>
                <a:schemeClr val="accent3">
                  <a:lumMod val="75000"/>
                </a:schemeClr>
              </a:solidFill>
            </a:endParaRPr>
          </a:p>
        </p:txBody>
      </p:sp>
      <p:sp>
        <p:nvSpPr>
          <p:cNvPr id="16" name="Shape 14">
            <a:extLst xmlns:a="http://schemas.openxmlformats.org/drawingml/2006/main">
              <a:ext uri="{FF2B5EF4-FFF2-40B4-BE49-F238E27FC236}">
                <a16:creationId xmlns:a16="http://schemas.microsoft.com/office/drawing/2014/main" id="{8EE9D696-0E62-4C66-BAFD-1515E37114E4}"/>
              </a:ext>
            </a:extLst>
          </p:cNvPr>
          <p:cNvSpPr>
            <a:spLocks xmlns:a="http://schemas.openxmlformats.org/drawingml/2006/main" noGrp="1"/>
          </p:cNvSpPr>
          <p:nvPr/>
        </p:nvSpPr>
        <p:spPr>
          <a:xfrm xmlns:a="http://schemas.openxmlformats.org/drawingml/2006/main">
            <a:off x="3383280" y="2971800"/>
            <a:ext cx="2743200" cy="164592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55569B2-9CD7-4DF2-A0B3-9401AFD98C99}"/>
              </a:ext>
            </a:extLst>
          </p:cNvPr>
          <p:cNvSpPr>
            <a:spLocks xmlns:a="http://schemas.openxmlformats.org/drawingml/2006/main" noGrp="1"/>
          </p:cNvSpPr>
          <p:nvPr/>
        </p:nvSpPr>
        <p:spPr>
          <a:xfrm xmlns:a="http://schemas.openxmlformats.org/drawingml/2006/main">
            <a:off x="3520440" y="308152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Current gaps</a:t>
            </a:r>
            <a:endParaRPr sz="1200"/>
          </a:p>
        </p:txBody>
      </p:sp>
      <p:sp>
        <p:nvSpPr>
          <p:cNvPr id="18" name="Text 16">
            <a:extLst xmlns:a="http://schemas.openxmlformats.org/drawingml/2006/main">
              <a:ext uri="{FF2B5EF4-FFF2-40B4-BE49-F238E27FC236}">
                <a16:creationId xmlns:a16="http://schemas.microsoft.com/office/drawing/2014/main" id="{4DF5AC5D-5F48-4832-BF88-513C12619E9E}"/>
              </a:ext>
            </a:extLst>
          </p:cNvPr>
          <p:cNvSpPr>
            <a:spLocks xmlns:a="http://schemas.openxmlformats.org/drawingml/2006/main" noGrp="1"/>
          </p:cNvSpPr>
          <p:nvPr/>
        </p:nvSpPr>
        <p:spPr>
          <a:xfrm xmlns:a="http://schemas.openxmlformats.org/drawingml/2006/main">
            <a:off x="3520440" y="3355848"/>
            <a:ext cx="24688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Paper registers are slow to update. Existing apps are often not Marathi-first, rely on typing, and need continuous connectivity—making them difficult to use in remote villages.</a:t>
            </a:r>
            <a:endParaRPr sz="1000">
              <a:solidFill>
                <a:schemeClr val="accent3">
                  <a:lumMod val="75000"/>
                </a:schemeClr>
              </a:solidFill>
            </a:endParaRPr>
          </a:p>
        </p:txBody>
      </p:sp>
      <p:sp>
        <p:nvSpPr>
          <p:cNvPr id="19" name="Shape 17">
            <a:extLst xmlns:a="http://schemas.openxmlformats.org/drawingml/2006/main">
              <a:ext uri="{FF2B5EF4-FFF2-40B4-BE49-F238E27FC236}">
                <a16:creationId xmlns:a16="http://schemas.microsoft.com/office/drawing/2014/main" id="{C61D0A86-FD2C-43D7-A2A2-A840EC62D7ED}"/>
              </a:ext>
            </a:extLst>
          </p:cNvPr>
          <p:cNvSpPr>
            <a:spLocks xmlns:a="http://schemas.openxmlformats.org/drawingml/2006/main" noGrp="1"/>
          </p:cNvSpPr>
          <p:nvPr/>
        </p:nvSpPr>
        <p:spPr>
          <a:xfrm xmlns:a="http://schemas.openxmlformats.org/drawingml/2006/main">
            <a:off x="6309360" y="1188720"/>
            <a:ext cx="2377440" cy="3429000"/>
          </a:xfrm>
          <a:prstGeom xmlns:a="http://schemas.openxmlformats.org/drawingml/2006/main" prst="roundRect">
            <a:avLst>
              <a:gd name="adj" fmla="val 3846"/>
            </a:avLst>
          </a:prstGeom>
          <a:solidFill xmlns:a="http://schemas.openxmlformats.org/drawingml/2006/main">
            <a:srgbClr val="1B2A5C"/>
          </a:solidFill>
          <a:ln xmlns:a="http://schemas.openxmlformats.org/drawingml/2006/main" w="12700">
            <a:solidFill>
              <a:srgbClr val="1B2A5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C6212C30-0D1A-49B9-9233-AD88699E8347}"/>
              </a:ext>
            </a:extLst>
          </p:cNvPr>
          <p:cNvSpPr>
            <a:spLocks xmlns:a="http://schemas.openxmlformats.org/drawingml/2006/main" noGrp="1"/>
          </p:cNvSpPr>
          <p:nvPr/>
        </p:nvSpPr>
        <p:spPr>
          <a:xfrm xmlns:a="http://schemas.openxmlformats.org/drawingml/2006/main">
            <a:off x="6400800" y="1508760"/>
            <a:ext cx="21945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400" b="1">
                <a:solidFill>
                  <a:srgbClr val="F28C28"/>
                </a:solidFill>
                <a:latin typeface="Nirmala UI"/>
                <a:ea typeface="Nirmala UI"/>
                <a:cs typeface="Nirmala UI"/>
              </a:rPr>
              <a:t>50,000–70,000</a:t>
            </a:r>
            <a:endParaRPr sz="2400"/>
          </a:p>
        </p:txBody>
      </p:sp>
      <p:sp>
        <p:nvSpPr>
          <p:cNvPr id="21" name="Text 19">
            <a:extLst xmlns:a="http://schemas.openxmlformats.org/drawingml/2006/main">
              <a:ext uri="{FF2B5EF4-FFF2-40B4-BE49-F238E27FC236}">
                <a16:creationId xmlns:a16="http://schemas.microsoft.com/office/drawing/2014/main" id="{637770F4-59CD-4E72-9BB5-B1649A933E06}"/>
              </a:ext>
            </a:extLst>
          </p:cNvPr>
          <p:cNvSpPr>
            <a:spLocks xmlns:a="http://schemas.openxmlformats.org/drawingml/2006/main" noGrp="1"/>
          </p:cNvSpPr>
          <p:nvPr/>
        </p:nvSpPr>
        <p:spPr>
          <a:xfrm xmlns:a="http://schemas.openxmlformats.org/drawingml/2006/main">
            <a:off x="6492240" y="2286000"/>
            <a:ext cx="2011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i="1">
                <a:solidFill>
                  <a:srgbClr val="FFFFFF"/>
                </a:solidFill>
                <a:latin typeface="Nirmala UI"/>
                <a:ea typeface="Nirmala UI"/>
                <a:cs typeface="Nirmala UI"/>
              </a:rPr>
              <a:t>ASHA and Anganwadi workers across rural Maharashtra</a:t>
            </a:r>
            <a:endParaRPr sz="1050"/>
          </a:p>
        </p:txBody>
      </p:sp>
      <p:sp>
        <p:nvSpPr>
          <p:cNvPr id="22" name="Text 20">
            <a:extLst xmlns:a="http://schemas.openxmlformats.org/drawingml/2006/main">
              <a:ext uri="{FF2B5EF4-FFF2-40B4-BE49-F238E27FC236}">
                <a16:creationId xmlns:a16="http://schemas.microsoft.com/office/drawing/2014/main" id="{DD870ED8-B7FC-4848-A324-DB6E5596C86E}"/>
              </a:ext>
            </a:extLst>
          </p:cNvPr>
          <p:cNvSpPr>
            <a:spLocks xmlns:a="http://schemas.openxmlformats.org/drawingml/2006/main" noGrp="1"/>
          </p:cNvSpPr>
          <p:nvPr/>
        </p:nvSpPr>
        <p:spPr>
          <a:xfrm xmlns:a="http://schemas.openxmlformats.org/drawingml/2006/main">
            <a:off x="6492240" y="31089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F28C28"/>
                </a:solidFill>
                <a:latin typeface="Nirmala UI"/>
                <a:ea typeface="Nirmala UI"/>
                <a:cs typeface="Nirmala UI"/>
              </a:rPr>
              <a:t>Why it matters</a:t>
            </a:r>
            <a:endParaRPr sz="1100"/>
          </a:p>
        </p:txBody>
      </p:sp>
      <p:sp>
        <p:nvSpPr>
          <p:cNvPr id="23" name="Text 21">
            <a:extLst xmlns:a="http://schemas.openxmlformats.org/drawingml/2006/main">
              <a:ext uri="{FF2B5EF4-FFF2-40B4-BE49-F238E27FC236}">
                <a16:creationId xmlns:a16="http://schemas.microsoft.com/office/drawing/2014/main" id="{03E28AE4-1436-43CB-8539-B9B3EDCCFEB2}"/>
              </a:ext>
            </a:extLst>
          </p:cNvPr>
          <p:cNvSpPr>
            <a:spLocks xmlns:a="http://schemas.openxmlformats.org/drawingml/2006/main" noGrp="1"/>
          </p:cNvSpPr>
          <p:nvPr/>
        </p:nvSpPr>
        <p:spPr>
          <a:xfrm xmlns:a="http://schemas.openxmlformats.org/drawingml/2006/main">
            <a:off x="6492240" y="3383280"/>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i="1">
                <a:solidFill>
                  <a:schemeClr val="bg1">
                    <a:lumMod val="85000"/>
                  </a:schemeClr>
                </a:solidFill>
                <a:latin typeface="Nirmala UI"/>
                <a:ea typeface="Nirmala UI"/>
                <a:cs typeface="Nirmala UI"/>
              </a:rPr>
              <a:t>Delayed follow-ups can leave high-risk mothers and children without timely care and reduce the quality of government health data.</a:t>
            </a:r>
            <a:endParaRPr sz="1000">
              <a:solidFill>
                <a:schemeClr val="bg1">
                  <a:lumMod val="85000"/>
                </a:schemeClr>
              </a:solidFill>
            </a:endParaRPr>
          </a:p>
        </p:txBody>
      </p:sp>
    </p:spTree>
    <p:extLst>
      <p:ext uri="{BB962C8B-B14F-4D97-AF65-F5344CB8AC3E}">
        <p14:creationId xmlns:p14="http://schemas.microsoft.com/office/powerpoint/2010/main" val="58815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3428A7E-F78B-45CC-8F36-57522E5A0FA8}"/>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AEAF4D48-F93F-40BB-ADEC-7395FA4F92B8}"/>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3</a:t>
            </a:r>
            <a:endParaRPr sz="1540"/>
          </a:p>
        </p:txBody>
      </p:sp>
      <p:sp>
        <p:nvSpPr>
          <p:cNvPr id="4" name="Text 2">
            <a:extLst xmlns:a="http://schemas.openxmlformats.org/drawingml/2006/main">
              <a:ext uri="{FF2B5EF4-FFF2-40B4-BE49-F238E27FC236}">
                <a16:creationId xmlns:a16="http://schemas.microsoft.com/office/drawing/2014/main" id="{0B2EA583-0FC9-4455-A205-3E15E09031CB}"/>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Our Solution &amp; Innovation</a:t>
            </a:r>
            <a:endParaRPr sz="2600"/>
          </a:p>
        </p:txBody>
      </p:sp>
      <p:sp>
        <p:nvSpPr>
          <p:cNvPr id="5" name="Text 3">
            <a:extLst xmlns:a="http://schemas.openxmlformats.org/drawingml/2006/main">
              <a:ext uri="{FF2B5EF4-FFF2-40B4-BE49-F238E27FC236}">
                <a16:creationId xmlns:a16="http://schemas.microsoft.com/office/drawing/2014/main" id="{03B88A63-4BB9-427E-AF8C-22A109ED6022}"/>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chemeClr val="accent3">
                    <a:lumMod val="75000"/>
                  </a:schemeClr>
                </a:solidFill>
                <a:latin typeface="Nirmala UI"/>
                <a:ea typeface="Nirmala UI"/>
                <a:cs typeface="Nirmala UI"/>
              </a:rPr>
              <a:t>What have you built or designed, how does it work, and what is new about it?</a:t>
            </a:r>
            <a:endParaRPr sz="1100">
              <a:solidFill>
                <a:schemeClr val="accent3">
                  <a:lumMod val="75000"/>
                </a:schemeClr>
              </a:solidFill>
            </a:endParaRPr>
          </a:p>
        </p:txBody>
      </p:sp>
      <p:sp>
        <p:nvSpPr>
          <p:cNvPr id="6" name="Text 4">
            <a:extLst xmlns:a="http://schemas.openxmlformats.org/drawingml/2006/main">
              <a:ext uri="{FF2B5EF4-FFF2-40B4-BE49-F238E27FC236}">
                <a16:creationId xmlns:a16="http://schemas.microsoft.com/office/drawing/2014/main" id="{4B6B1666-DEBD-4E19-B8FE-8AB5AAA92264}"/>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3 of 6</a:t>
            </a:r>
            <a:endParaRPr sz="800"/>
          </a:p>
        </p:txBody>
      </p:sp>
      <p:sp>
        <p:nvSpPr>
          <p:cNvPr id="7" name="Text 5">
            <a:extLst xmlns:a="http://schemas.openxmlformats.org/drawingml/2006/main">
              <a:ext uri="{FF2B5EF4-FFF2-40B4-BE49-F238E27FC236}">
                <a16:creationId xmlns:a16="http://schemas.microsoft.com/office/drawing/2014/main" id="{411D4886-8EF0-4FE7-B788-F33C974C9ECE}"/>
              </a:ext>
            </a:extLst>
          </p:cNvPr>
          <p:cNvSpPr>
            <a:spLocks xmlns:a="http://schemas.openxmlformats.org/drawingml/2006/main" noGrp="1"/>
          </p:cNvSpPr>
          <p:nvPr/>
        </p:nvSpPr>
        <p:spPr>
          <a:xfrm xmlns:a="http://schemas.openxmlformats.org/drawingml/2006/main">
            <a:off x="457200" y="118872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Our solution in brief</a:t>
            </a:r>
            <a:endParaRPr sz="1300"/>
          </a:p>
        </p:txBody>
      </p:sp>
      <p:sp>
        <p:nvSpPr>
          <p:cNvPr id="8" name="Text 6">
            <a:extLst xmlns:a="http://schemas.openxmlformats.org/drawingml/2006/main">
              <a:ext uri="{FF2B5EF4-FFF2-40B4-BE49-F238E27FC236}">
                <a16:creationId xmlns:a16="http://schemas.microsoft.com/office/drawing/2014/main" id="{14BEC592-22FB-48F6-AE9A-BD88AEC3B1A1}"/>
              </a:ext>
            </a:extLst>
          </p:cNvPr>
          <p:cNvSpPr>
            <a:spLocks xmlns:a="http://schemas.openxmlformats.org/drawingml/2006/main" noGrp="1"/>
          </p:cNvSpPr>
          <p:nvPr/>
        </p:nvSpPr>
        <p:spPr>
          <a:xfrm xmlns:a="http://schemas.openxmlformats.org/drawingml/2006/main">
            <a:off x="457200" y="1481328"/>
            <a:ext cx="39319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chemeClr val="accent3">
                    <a:lumMod val="75000"/>
                  </a:schemeClr>
                </a:solidFill>
                <a:latin typeface="Nirmala UI"/>
                <a:ea typeface="Nirmala UI"/>
                <a:cs typeface="Nirmala UI"/>
              </a:rPr>
              <a:t>A Marathi-first PWA for basic smartphones. Workers use speech-to-text when available, or capture audio/use quick presets offline. A rules-based parser flags risks; visits queue for sync and follow-ups stay in-app.</a:t>
            </a:r>
            <a:endParaRPr sz="1050">
              <a:solidFill>
                <a:schemeClr val="accent3">
                  <a:lumMod val="75000"/>
                </a:schemeClr>
              </a:solidFill>
            </a:endParaRPr>
          </a:p>
        </p:txBody>
      </p:sp>
      <p:sp>
        <p:nvSpPr>
          <p:cNvPr id="9" name="Text 7">
            <a:extLst xmlns:a="http://schemas.openxmlformats.org/drawingml/2006/main">
              <a:ext uri="{FF2B5EF4-FFF2-40B4-BE49-F238E27FC236}">
                <a16:creationId xmlns:a16="http://schemas.microsoft.com/office/drawing/2014/main" id="{B7A6CD72-FB56-4D1C-A889-503E4B135194}"/>
              </a:ext>
            </a:extLst>
          </p:cNvPr>
          <p:cNvSpPr>
            <a:spLocks xmlns:a="http://schemas.openxmlformats.org/drawingml/2006/main" noGrp="1"/>
          </p:cNvSpPr>
          <p:nvPr/>
        </p:nvSpPr>
        <p:spPr>
          <a:xfrm xmlns:a="http://schemas.openxmlformats.org/drawingml/2006/main">
            <a:off x="457200" y="237744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How it works</a:t>
            </a:r>
            <a:endParaRPr sz="1300"/>
          </a:p>
        </p:txBody>
      </p:sp>
      <p:sp>
        <p:nvSpPr>
          <p:cNvPr id="10" name="Shape 8">
            <a:extLst xmlns:a="http://schemas.openxmlformats.org/drawingml/2006/main">
              <a:ext uri="{FF2B5EF4-FFF2-40B4-BE49-F238E27FC236}">
                <a16:creationId xmlns:a16="http://schemas.microsoft.com/office/drawing/2014/main" id="{5076893B-8CB1-4381-994D-83EA1BB6310B}"/>
              </a:ext>
            </a:extLst>
          </p:cNvPr>
          <p:cNvSpPr>
            <a:spLocks xmlns:a="http://schemas.openxmlformats.org/drawingml/2006/main" noGrp="1"/>
          </p:cNvSpPr>
          <p:nvPr/>
        </p:nvSpPr>
        <p:spPr>
          <a:xfrm xmlns:a="http://schemas.openxmlformats.org/drawingml/2006/main">
            <a:off x="457200" y="2724912"/>
            <a:ext cx="1170432" cy="1783080"/>
          </a:xfrm>
          <a:prstGeom xmlns:a="http://schemas.openxmlformats.org/drawingml/2006/main" prst="roundRect">
            <a:avLst>
              <a:gd name="adj" fmla="val 625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CC5413BE-EF7D-4E89-8102-E9FAE69C96EC}"/>
              </a:ext>
            </a:extLst>
          </p:cNvPr>
          <p:cNvSpPr>
            <a:spLocks xmlns:a="http://schemas.openxmlformats.org/drawingml/2006/main" noGrp="1"/>
          </p:cNvSpPr>
          <p:nvPr/>
        </p:nvSpPr>
        <p:spPr>
          <a:xfrm xmlns:a="http://schemas.openxmlformats.org/drawingml/2006/main">
            <a:off x="859536" y="2834640"/>
            <a:ext cx="365760" cy="36576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78C8F81-A789-4535-9B81-2F96BAEAB501}"/>
              </a:ext>
            </a:extLst>
          </p:cNvPr>
          <p:cNvSpPr>
            <a:spLocks xmlns:a="http://schemas.openxmlformats.org/drawingml/2006/main" noGrp="1"/>
          </p:cNvSpPr>
          <p:nvPr/>
        </p:nvSpPr>
        <p:spPr>
          <a:xfrm xmlns:a="http://schemas.openxmlformats.org/drawingml/2006/main">
            <a:off x="859536" y="28346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0" b="1">
                <a:solidFill>
                  <a:srgbClr val="FFFFFF"/>
                </a:solidFill>
                <a:latin typeface="Nirmala UI"/>
                <a:ea typeface="Nirmala UI"/>
                <a:cs typeface="Nirmala UI"/>
              </a:rPr>
              <a:t>1</a:t>
            </a:r>
            <a:endParaRPr sz="1120"/>
          </a:p>
        </p:txBody>
      </p:sp>
      <p:sp>
        <p:nvSpPr>
          <p:cNvPr id="13" name="Text 11">
            <a:extLst xmlns:a="http://schemas.openxmlformats.org/drawingml/2006/main">
              <a:ext uri="{FF2B5EF4-FFF2-40B4-BE49-F238E27FC236}">
                <a16:creationId xmlns:a16="http://schemas.microsoft.com/office/drawing/2014/main" id="{0488C66C-1252-4FF0-A85C-BA59C38B266F}"/>
              </a:ext>
            </a:extLst>
          </p:cNvPr>
          <p:cNvSpPr>
            <a:spLocks xmlns:a="http://schemas.openxmlformats.org/drawingml/2006/main" noGrp="1"/>
          </p:cNvSpPr>
          <p:nvPr/>
        </p:nvSpPr>
        <p:spPr>
          <a:xfrm xmlns:a="http://schemas.openxmlformats.org/drawingml/2006/main">
            <a:off x="530352" y="3273552"/>
            <a:ext cx="102412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B2A5C"/>
                </a:solidFill>
                <a:latin typeface="Nirmala UI"/>
                <a:ea typeface="Nirmala UI"/>
                <a:cs typeface="Nirmala UI"/>
              </a:rPr>
              <a:t>Input</a:t>
            </a:r>
            <a:endParaRPr sz="1100"/>
          </a:p>
        </p:txBody>
      </p:sp>
      <p:sp>
        <p:nvSpPr>
          <p:cNvPr id="14" name="Text 12">
            <a:extLst xmlns:a="http://schemas.openxmlformats.org/drawingml/2006/main">
              <a:ext uri="{FF2B5EF4-FFF2-40B4-BE49-F238E27FC236}">
                <a16:creationId xmlns:a16="http://schemas.microsoft.com/office/drawing/2014/main" id="{FFF51166-DA4D-4EEC-AE7F-E299703C4ACD}"/>
              </a:ext>
            </a:extLst>
          </p:cNvPr>
          <p:cNvSpPr>
            <a:spLocks xmlns:a="http://schemas.openxmlformats.org/drawingml/2006/main" noGrp="1"/>
          </p:cNvSpPr>
          <p:nvPr/>
        </p:nvSpPr>
        <p:spPr>
          <a:xfrm xmlns:a="http://schemas.openxmlformats.org/drawingml/2006/main">
            <a:off x="548640" y="3566160"/>
            <a:ext cx="9875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6B7280"/>
                </a:solidFill>
                <a:latin typeface="Nirmala UI"/>
                <a:ea typeface="Nirmala UI"/>
                <a:cs typeface="Nirmala UI"/>
              </a:rPr>
              <a:t>Speech entry when available; offline audio or presets</a:t>
            </a:r>
            <a:endParaRPr sz="900"/>
          </a:p>
        </p:txBody>
      </p:sp>
      <p:sp>
        <p:nvSpPr>
          <p:cNvPr id="15" name="Text 13">
            <a:extLst xmlns:a="http://schemas.openxmlformats.org/drawingml/2006/main">
              <a:ext uri="{FF2B5EF4-FFF2-40B4-BE49-F238E27FC236}">
                <a16:creationId xmlns:a16="http://schemas.microsoft.com/office/drawing/2014/main" id="{2D03FE2D-DD5E-4317-99D9-39BBE24AF523}"/>
              </a:ext>
            </a:extLst>
          </p:cNvPr>
          <p:cNvSpPr>
            <a:spLocks xmlns:a="http://schemas.openxmlformats.org/drawingml/2006/main" noGrp="1"/>
          </p:cNvSpPr>
          <p:nvPr/>
        </p:nvSpPr>
        <p:spPr>
          <a:xfrm xmlns:a="http://schemas.openxmlformats.org/drawingml/2006/main">
            <a:off x="1627632" y="3291840"/>
            <a:ext cx="201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F28C28"/>
                </a:solidFill>
                <a:latin typeface="Nirmala UI"/>
                <a:ea typeface="Nirmala UI"/>
                <a:cs typeface="Nirmala UI"/>
              </a:rPr>
              <a:t>›</a:t>
            </a:r>
            <a:endParaRPr sz="2200"/>
          </a:p>
        </p:txBody>
      </p:sp>
      <p:sp>
        <p:nvSpPr>
          <p:cNvPr id="16" name="Shape 14">
            <a:extLst xmlns:a="http://schemas.openxmlformats.org/drawingml/2006/main">
              <a:ext uri="{FF2B5EF4-FFF2-40B4-BE49-F238E27FC236}">
                <a16:creationId xmlns:a16="http://schemas.microsoft.com/office/drawing/2014/main" id="{54791F1B-031A-4FD0-ABEA-17C5A3A8BC0B}"/>
              </a:ext>
            </a:extLst>
          </p:cNvPr>
          <p:cNvSpPr>
            <a:spLocks xmlns:a="http://schemas.openxmlformats.org/drawingml/2006/main" noGrp="1"/>
          </p:cNvSpPr>
          <p:nvPr/>
        </p:nvSpPr>
        <p:spPr>
          <a:xfrm xmlns:a="http://schemas.openxmlformats.org/drawingml/2006/main">
            <a:off x="1828800" y="2724912"/>
            <a:ext cx="1170432" cy="1783080"/>
          </a:xfrm>
          <a:prstGeom xmlns:a="http://schemas.openxmlformats.org/drawingml/2006/main" prst="roundRect">
            <a:avLst>
              <a:gd name="adj" fmla="val 625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549911F1-8944-4F45-A048-4A9DCB1C2D20}"/>
              </a:ext>
            </a:extLst>
          </p:cNvPr>
          <p:cNvSpPr>
            <a:spLocks xmlns:a="http://schemas.openxmlformats.org/drawingml/2006/main" noGrp="1"/>
          </p:cNvSpPr>
          <p:nvPr/>
        </p:nvSpPr>
        <p:spPr>
          <a:xfrm xmlns:a="http://schemas.openxmlformats.org/drawingml/2006/main">
            <a:off x="2231136" y="2834640"/>
            <a:ext cx="365760" cy="36576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6CC41173-13B2-43F5-BD0F-A32247F51308}"/>
              </a:ext>
            </a:extLst>
          </p:cNvPr>
          <p:cNvSpPr>
            <a:spLocks xmlns:a="http://schemas.openxmlformats.org/drawingml/2006/main" noGrp="1"/>
          </p:cNvSpPr>
          <p:nvPr/>
        </p:nvSpPr>
        <p:spPr>
          <a:xfrm xmlns:a="http://schemas.openxmlformats.org/drawingml/2006/main">
            <a:off x="2231136" y="28346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0" b="1">
                <a:solidFill>
                  <a:srgbClr val="FFFFFF"/>
                </a:solidFill>
                <a:latin typeface="Nirmala UI"/>
                <a:ea typeface="Nirmala UI"/>
                <a:cs typeface="Nirmala UI"/>
              </a:rPr>
              <a:t>2</a:t>
            </a:r>
            <a:endParaRPr sz="1120"/>
          </a:p>
        </p:txBody>
      </p:sp>
      <p:sp>
        <p:nvSpPr>
          <p:cNvPr id="19" name="Text 17">
            <a:extLst xmlns:a="http://schemas.openxmlformats.org/drawingml/2006/main">
              <a:ext uri="{FF2B5EF4-FFF2-40B4-BE49-F238E27FC236}">
                <a16:creationId xmlns:a16="http://schemas.microsoft.com/office/drawing/2014/main" id="{A3877EDE-4EBD-410E-9B5E-1AF5E12D0DFE}"/>
              </a:ext>
            </a:extLst>
          </p:cNvPr>
          <p:cNvSpPr>
            <a:spLocks xmlns:a="http://schemas.openxmlformats.org/drawingml/2006/main" noGrp="1"/>
          </p:cNvSpPr>
          <p:nvPr/>
        </p:nvSpPr>
        <p:spPr>
          <a:xfrm xmlns:a="http://schemas.openxmlformats.org/drawingml/2006/main">
            <a:off x="1901952" y="3273552"/>
            <a:ext cx="102412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B2A5C"/>
                </a:solidFill>
                <a:latin typeface="Nirmala UI"/>
                <a:ea typeface="Nirmala UI"/>
                <a:cs typeface="Nirmala UI"/>
              </a:rPr>
              <a:t>Process</a:t>
            </a:r>
            <a:endParaRPr sz="1100"/>
          </a:p>
        </p:txBody>
      </p:sp>
      <p:sp>
        <p:nvSpPr>
          <p:cNvPr id="20" name="Text 18">
            <a:extLst xmlns:a="http://schemas.openxmlformats.org/drawingml/2006/main">
              <a:ext uri="{FF2B5EF4-FFF2-40B4-BE49-F238E27FC236}">
                <a16:creationId xmlns:a16="http://schemas.microsoft.com/office/drawing/2014/main" id="{BE4E4990-E19D-45F9-95E6-983710340A19}"/>
              </a:ext>
            </a:extLst>
          </p:cNvPr>
          <p:cNvSpPr>
            <a:spLocks xmlns:a="http://schemas.openxmlformats.org/drawingml/2006/main" noGrp="1"/>
          </p:cNvSpPr>
          <p:nvPr/>
        </p:nvSpPr>
        <p:spPr>
          <a:xfrm xmlns:a="http://schemas.openxmlformats.org/drawingml/2006/main">
            <a:off x="1920240" y="3566160"/>
            <a:ext cx="9875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6B7280"/>
                </a:solidFill>
                <a:latin typeface="Nirmala UI"/>
                <a:ea typeface="Nirmala UI"/>
                <a:cs typeface="Nirmala UI"/>
              </a:rPr>
              <a:t>Rules-based risk flags; follow-ups tracked in app</a:t>
            </a:r>
            <a:endParaRPr sz="900"/>
          </a:p>
        </p:txBody>
      </p:sp>
      <p:sp>
        <p:nvSpPr>
          <p:cNvPr id="21" name="Text 19">
            <a:extLst xmlns:a="http://schemas.openxmlformats.org/drawingml/2006/main">
              <a:ext uri="{FF2B5EF4-FFF2-40B4-BE49-F238E27FC236}">
                <a16:creationId xmlns:a16="http://schemas.microsoft.com/office/drawing/2014/main" id="{F4CD11EC-2CC2-4AD2-A325-3C57254745A5}"/>
              </a:ext>
            </a:extLst>
          </p:cNvPr>
          <p:cNvSpPr>
            <a:spLocks xmlns:a="http://schemas.openxmlformats.org/drawingml/2006/main" noGrp="1"/>
          </p:cNvSpPr>
          <p:nvPr/>
        </p:nvSpPr>
        <p:spPr>
          <a:xfrm xmlns:a="http://schemas.openxmlformats.org/drawingml/2006/main">
            <a:off x="2999232" y="3291840"/>
            <a:ext cx="201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F28C28"/>
                </a:solidFill>
                <a:latin typeface="Nirmala UI"/>
                <a:ea typeface="Nirmala UI"/>
                <a:cs typeface="Nirmala UI"/>
              </a:rPr>
              <a:t>›</a:t>
            </a:r>
            <a:endParaRPr sz="2200"/>
          </a:p>
        </p:txBody>
      </p:sp>
      <p:sp>
        <p:nvSpPr>
          <p:cNvPr id="22" name="Shape 20">
            <a:extLst xmlns:a="http://schemas.openxmlformats.org/drawingml/2006/main">
              <a:ext uri="{FF2B5EF4-FFF2-40B4-BE49-F238E27FC236}">
                <a16:creationId xmlns:a16="http://schemas.microsoft.com/office/drawing/2014/main" id="{4C57B1E3-16B4-4411-84C0-126133CE63D9}"/>
              </a:ext>
            </a:extLst>
          </p:cNvPr>
          <p:cNvSpPr>
            <a:spLocks xmlns:a="http://schemas.openxmlformats.org/drawingml/2006/main" noGrp="1"/>
          </p:cNvSpPr>
          <p:nvPr/>
        </p:nvSpPr>
        <p:spPr>
          <a:xfrm xmlns:a="http://schemas.openxmlformats.org/drawingml/2006/main">
            <a:off x="3200400" y="2724912"/>
            <a:ext cx="1170432" cy="1783080"/>
          </a:xfrm>
          <a:prstGeom xmlns:a="http://schemas.openxmlformats.org/drawingml/2006/main" prst="roundRect">
            <a:avLst>
              <a:gd name="adj" fmla="val 625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FA8850EF-022F-42BD-BD57-FE0EF30FC0F9}"/>
              </a:ext>
            </a:extLst>
          </p:cNvPr>
          <p:cNvSpPr>
            <a:spLocks xmlns:a="http://schemas.openxmlformats.org/drawingml/2006/main" noGrp="1"/>
          </p:cNvSpPr>
          <p:nvPr/>
        </p:nvSpPr>
        <p:spPr>
          <a:xfrm xmlns:a="http://schemas.openxmlformats.org/drawingml/2006/main">
            <a:off x="3602736" y="2834640"/>
            <a:ext cx="365760" cy="36576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8B18C0BB-91FB-4973-8409-47414AF908BB}"/>
              </a:ext>
            </a:extLst>
          </p:cNvPr>
          <p:cNvSpPr>
            <a:spLocks xmlns:a="http://schemas.openxmlformats.org/drawingml/2006/main" noGrp="1"/>
          </p:cNvSpPr>
          <p:nvPr/>
        </p:nvSpPr>
        <p:spPr>
          <a:xfrm xmlns:a="http://schemas.openxmlformats.org/drawingml/2006/main">
            <a:off x="3602736" y="28346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0" b="1">
                <a:solidFill>
                  <a:srgbClr val="FFFFFF"/>
                </a:solidFill>
                <a:latin typeface="Nirmala UI"/>
                <a:ea typeface="Nirmala UI"/>
                <a:cs typeface="Nirmala UI"/>
              </a:rPr>
              <a:t>3</a:t>
            </a:r>
            <a:endParaRPr sz="1120"/>
          </a:p>
        </p:txBody>
      </p:sp>
      <p:sp>
        <p:nvSpPr>
          <p:cNvPr id="25" name="Text 23">
            <a:extLst xmlns:a="http://schemas.openxmlformats.org/drawingml/2006/main">
              <a:ext uri="{FF2B5EF4-FFF2-40B4-BE49-F238E27FC236}">
                <a16:creationId xmlns:a16="http://schemas.microsoft.com/office/drawing/2014/main" id="{5F5F1A70-0637-4800-9AF7-17F81FADC820}"/>
              </a:ext>
            </a:extLst>
          </p:cNvPr>
          <p:cNvSpPr>
            <a:spLocks xmlns:a="http://schemas.openxmlformats.org/drawingml/2006/main" noGrp="1"/>
          </p:cNvSpPr>
          <p:nvPr/>
        </p:nvSpPr>
        <p:spPr>
          <a:xfrm xmlns:a="http://schemas.openxmlformats.org/drawingml/2006/main">
            <a:off x="3273552" y="3273552"/>
            <a:ext cx="102412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B2A5C"/>
                </a:solidFill>
                <a:latin typeface="Nirmala UI"/>
                <a:ea typeface="Nirmala UI"/>
                <a:cs typeface="Nirmala UI"/>
              </a:rPr>
              <a:t>Output</a:t>
            </a:r>
            <a:endParaRPr sz="1100"/>
          </a:p>
        </p:txBody>
      </p:sp>
      <p:sp>
        <p:nvSpPr>
          <p:cNvPr id="26" name="Text 24">
            <a:extLst xmlns:a="http://schemas.openxmlformats.org/drawingml/2006/main">
              <a:ext uri="{FF2B5EF4-FFF2-40B4-BE49-F238E27FC236}">
                <a16:creationId xmlns:a16="http://schemas.microsoft.com/office/drawing/2014/main" id="{638C6DCF-A0E8-49A5-80B6-50364A8BADC6}"/>
              </a:ext>
            </a:extLst>
          </p:cNvPr>
          <p:cNvSpPr>
            <a:spLocks xmlns:a="http://schemas.openxmlformats.org/drawingml/2006/main" noGrp="1"/>
          </p:cNvSpPr>
          <p:nvPr/>
        </p:nvSpPr>
        <p:spPr>
          <a:xfrm xmlns:a="http://schemas.openxmlformats.org/drawingml/2006/main">
            <a:off x="3291840" y="3566160"/>
            <a:ext cx="9875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6B7280"/>
                </a:solidFill>
                <a:latin typeface="Nirmala UI"/>
                <a:ea typeface="Nirmala UI"/>
                <a:cs typeface="Nirmala UI"/>
              </a:rPr>
              <a:t>Queued visits sync later; supervisors view dashboards and reports</a:t>
            </a:r>
            <a:endParaRPr sz="900"/>
          </a:p>
        </p:txBody>
      </p:sp>
      <p:sp>
        <p:nvSpPr>
          <p:cNvPr id="27" name="Text 25">
            <a:extLst xmlns:a="http://schemas.openxmlformats.org/drawingml/2006/main">
              <a:ext uri="{FF2B5EF4-FFF2-40B4-BE49-F238E27FC236}">
                <a16:creationId xmlns:a16="http://schemas.microsoft.com/office/drawing/2014/main" id="{70AF678D-13A8-4AC0-8181-C8274DE63B07}"/>
              </a:ext>
            </a:extLst>
          </p:cNvPr>
          <p:cNvSpPr>
            <a:spLocks xmlns:a="http://schemas.openxmlformats.org/drawingml/2006/main" noGrp="1"/>
          </p:cNvSpPr>
          <p:nvPr/>
        </p:nvSpPr>
        <p:spPr>
          <a:xfrm xmlns:a="http://schemas.openxmlformats.org/drawingml/2006/main">
            <a:off x="4754880" y="118872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What makes it new?</a:t>
            </a:r>
            <a:endParaRPr sz="1300"/>
          </a:p>
        </p:txBody>
      </p:sp>
      <p:graphicFrame>
        <p:nvGraphicFramePr>
          <p:cNvPr id="28" name="Table 0">
            <a:extLst xmlns:a="http://schemas.openxmlformats.org/drawingml/2006/main">
              <a:ext uri="{FF2B5EF4-FFF2-40B4-BE49-F238E27FC236}">
                <a16:creationId xmlns:a16="http://schemas.microsoft.com/office/drawing/2014/main" id="{15DC1490-CC55-4B91-A024-807527C78293}"/>
              </a:ext>
            </a:extLst>
          </p:cNvPr>
          <p:cNvGraphicFramePr/>
          <p:nvPr/>
        </p:nvGraphicFramePr>
        <p:xfrm>
          <a:off xmlns:a="http://schemas.openxmlformats.org/drawingml/2006/main" x="4754880" y="1536192"/>
          <a:ext xmlns:a="http://schemas.openxmlformats.org/drawingml/2006/main" cx="3931920" cy="1969008"/>
        </p:xfrm>
        <a:graphic xmlns:a="http://schemas.openxmlformats.org/drawingml/2006/main">
          <a:graphicData uri="http://schemas.openxmlformats.org/drawingml/2006/table">
            <a:tbl>
              <a:tblPr/>
              <a:tblGrid>
                <a:gridCol w="1188720"/>
                <a:gridCol w="1371600"/>
                <a:gridCol w="1371600"/>
              </a:tblGrid>
              <a:tr h="384048">
                <a:tc>
                  <a:txBody>
                    <a:bodyPr/>
                    <a:lstStyle/>
                    <a:p>
                      <a:pPr marL="0" indent="0">
                        <a:buNone/>
                      </a:pP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1B2A5C"/>
                    </a:solidFill>
                  </a:tcPr>
                </a:tc>
                <a:tc>
                  <a:txBody>
                    <a:bodyPr/>
                    <a:lstStyle/>
                    <a:p>
                      <a:pPr marL="0" indent="0">
                        <a:buNone/>
                      </a:pPr>
                      <a:r>
                        <a:rPr sz="1000" b="1">
                          <a:solidFill>
                            <a:srgbClr val="FFFFFF"/>
                          </a:solidFill>
                          <a:latin typeface="Nirmala UI"/>
                          <a:ea typeface="Nirmala UI"/>
                          <a:cs typeface="Nirmala UI"/>
                        </a:rPr>
                        <a:t>Existing approach</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1B2A5C"/>
                    </a:solidFill>
                  </a:tcPr>
                </a:tc>
                <a:tc>
                  <a:txBody>
                    <a:bodyPr/>
                    <a:lstStyle/>
                    <a:p>
                      <a:pPr marL="0" indent="0">
                        <a:buNone/>
                      </a:pPr>
                      <a:r>
                        <a:rPr sz="1000" b="1">
                          <a:solidFill>
                            <a:srgbClr val="FFFFFF"/>
                          </a:solidFill>
                          <a:latin typeface="Nirmala UI"/>
                          <a:ea typeface="Nirmala UI"/>
                          <a:cs typeface="Nirmala UI"/>
                        </a:rPr>
                        <a:t>Our approach</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28C28"/>
                    </a:solidFill>
                  </a:tcPr>
                </a:tc>
              </a:tr>
              <a:tr h="384048">
                <a:tc>
                  <a:txBody>
                    <a:bodyPr/>
                    <a:lstStyle/>
                    <a:p>
                      <a:pPr marL="0" indent="0">
                        <a:buNone/>
                      </a:pPr>
                      <a:r>
                        <a:rPr sz="1000" b="1">
                          <a:solidFill>
                            <a:srgbClr val="1B2A5C"/>
                          </a:solidFill>
                          <a:latin typeface="Nirmala UI"/>
                          <a:ea typeface="Nirmala UI"/>
                          <a:cs typeface="Nirmala UI"/>
                        </a:rPr>
                        <a:t>Cost</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chemeClr val="accent3">
                              <a:lumMod val="75000"/>
                            </a:schemeClr>
                          </a:solidFill>
                          <a:latin typeface="Nirmala UI"/>
                          <a:ea typeface="Nirmala UI"/>
                          <a:cs typeface="Nirmala UI"/>
                        </a:rPr>
                        <a:t>Paper and admin burden</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chemeClr val="accent3">
                              <a:lumMod val="75000"/>
                            </a:schemeClr>
                          </a:solidFill>
                          <a:latin typeface="Nirmala UI"/>
                          <a:ea typeface="Nirmala UI"/>
                          <a:cs typeface="Nirmala UI"/>
                        </a:rPr>
                        <a:t>Uses existing smartphones</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r>
              <a:tr h="384048">
                <a:tc>
                  <a:txBody>
                    <a:bodyPr/>
                    <a:lstStyle/>
                    <a:p>
                      <a:pPr marL="0" indent="0">
                        <a:buNone/>
                      </a:pPr>
                      <a:r>
                        <a:rPr sz="1000" b="1">
                          <a:solidFill>
                            <a:srgbClr val="1B2A5C"/>
                          </a:solidFill>
                          <a:latin typeface="Nirmala UI"/>
                          <a:ea typeface="Nirmala UI"/>
                          <a:cs typeface="Nirmala UI"/>
                        </a:rPr>
                        <a:t>Speed / time</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chemeClr val="accent3">
                              <a:lumMod val="75000"/>
                            </a:schemeClr>
                          </a:solidFill>
                          <a:latin typeface="Nirmala UI"/>
                          <a:ea typeface="Nirmala UI"/>
                          <a:cs typeface="Nirmala UI"/>
                        </a:rPr>
                        <a:t>Manual updates; delayed follow-up</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chemeClr val="accent3">
                              <a:lumMod val="75000"/>
                            </a:schemeClr>
                          </a:solidFill>
                          <a:latin typeface="Nirmala UI"/>
                          <a:ea typeface="Nirmala UI"/>
                          <a:cs typeface="Nirmala UI"/>
                        </a:rPr>
                        <a:t>Voice entry + SMS reminders</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r>
              <a:tr h="384048">
                <a:tc>
                  <a:txBody>
                    <a:bodyPr/>
                    <a:lstStyle/>
                    <a:p>
                      <a:pPr marL="0" indent="0">
                        <a:buNone/>
                      </a:pPr>
                      <a:r>
                        <a:rPr sz="1000" b="1">
                          <a:solidFill>
                            <a:srgbClr val="1B2A5C"/>
                          </a:solidFill>
                          <a:latin typeface="Nirmala UI"/>
                          <a:ea typeface="Nirmala UI"/>
                          <a:cs typeface="Nirmala UI"/>
                        </a:rPr>
                        <a:t>Reach / access</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chemeClr val="accent3">
                              <a:lumMod val="75000"/>
                            </a:schemeClr>
                          </a:solidFill>
                          <a:latin typeface="Nirmala UI"/>
                          <a:ea typeface="Nirmala UI"/>
                          <a:cs typeface="Nirmala UI"/>
                        </a:rPr>
                        <a:t>Language and network limits</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chemeClr val="accent3">
                              <a:lumMod val="75000"/>
                            </a:schemeClr>
                          </a:solidFill>
                          <a:latin typeface="Nirmala UI"/>
                          <a:ea typeface="Nirmala UI"/>
                          <a:cs typeface="Nirmala UI"/>
                        </a:rPr>
                        <a:t>Marathi-first and offline</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r>
              <a:tr h="384048">
                <a:tc>
                  <a:txBody>
                    <a:bodyPr/>
                    <a:lstStyle/>
                    <a:p>
                      <a:pPr marL="0" indent="0">
                        <a:buNone/>
                      </a:pPr>
                      <a:r>
                        <a:rPr sz="1000" b="1">
                          <a:solidFill>
                            <a:srgbClr val="1B2A5C"/>
                          </a:solidFill>
                          <a:latin typeface="Nirmala UI"/>
                          <a:ea typeface="Nirmala UI"/>
                          <a:cs typeface="Nirmala UI"/>
                        </a:rPr>
                        <a:t>Ease of use</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chemeClr val="accent3">
                              <a:lumMod val="75000"/>
                            </a:schemeClr>
                          </a:solidFill>
                          <a:latin typeface="Nirmala UI"/>
                          <a:ea typeface="Nirmala UI"/>
                          <a:cs typeface="Nirmala UI"/>
                        </a:rPr>
                        <a:t>Registers or typing</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chemeClr val="accent3">
                              <a:lumMod val="75000"/>
                            </a:schemeClr>
                          </a:solidFill>
                          <a:latin typeface="Nirmala UI"/>
                          <a:ea typeface="Nirmala UI"/>
                          <a:cs typeface="Nirmala UI"/>
                        </a:rPr>
                        <a:t>Speak naturally in Marathi</a:t>
                      </a:r>
                      <a:endParaRPr sz="1000">
                        <a:solidFill>
                          <a:schemeClr val="accent3">
                            <a:lumMod val="75000"/>
                          </a:schemeClr>
                        </a:solidFill>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r>
            </a:tbl>
          </a:graphicData>
        </a:graphic>
      </p:graphicFrame>
      <p:sp>
        <p:nvSpPr>
          <p:cNvPr id="29" name="Text 26">
            <a:extLst xmlns:a="http://schemas.openxmlformats.org/drawingml/2006/main">
              <a:ext uri="{FF2B5EF4-FFF2-40B4-BE49-F238E27FC236}">
                <a16:creationId xmlns:a16="http://schemas.microsoft.com/office/drawing/2014/main" id="{FE629707-86E5-4E57-9683-13A0C2686762}"/>
              </a:ext>
            </a:extLst>
          </p:cNvPr>
          <p:cNvSpPr>
            <a:spLocks xmlns:a="http://schemas.openxmlformats.org/drawingml/2006/main" noGrp="1"/>
          </p:cNvSpPr>
          <p:nvPr/>
        </p:nvSpPr>
        <p:spPr>
          <a:xfrm xmlns:a="http://schemas.openxmlformats.org/drawingml/2006/main">
            <a:off x="4754880" y="3611880"/>
            <a:ext cx="3931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Key USP</a:t>
            </a:r>
            <a:endParaRPr sz="1200"/>
          </a:p>
        </p:txBody>
      </p:sp>
      <p:sp>
        <p:nvSpPr>
          <p:cNvPr id="30" name="Text 27">
            <a:extLst xmlns:a="http://schemas.openxmlformats.org/drawingml/2006/main">
              <a:ext uri="{FF2B5EF4-FFF2-40B4-BE49-F238E27FC236}">
                <a16:creationId xmlns:a16="http://schemas.microsoft.com/office/drawing/2014/main" id="{7572AD03-9B08-42DA-B9BA-EF6326D02A46}"/>
              </a:ext>
            </a:extLst>
          </p:cNvPr>
          <p:cNvSpPr>
            <a:spLocks xmlns:a="http://schemas.openxmlformats.org/drawingml/2006/main" noGrp="1"/>
          </p:cNvSpPr>
          <p:nvPr/>
        </p:nvSpPr>
        <p:spPr>
          <a:xfrm xmlns:a="http://schemas.openxmlformats.org/drawingml/2006/main">
            <a:off x="4754880" y="3886200"/>
            <a:ext cx="3931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Marathi voice entry when supported, offline visit queue/audio capture and explainable clinical risk flags for basic smartphones.</a:t>
            </a:r>
            <a:endParaRPr sz="1000">
              <a:solidFill>
                <a:schemeClr val="accent3">
                  <a:lumMod val="75000"/>
                </a:schemeClr>
              </a:solidFill>
            </a:endParaRPr>
          </a:p>
        </p:txBody>
      </p:sp>
    </p:spTree>
    <p:extLst>
      <p:ext uri="{BB962C8B-B14F-4D97-AF65-F5344CB8AC3E}">
        <p14:creationId xmlns:p14="http://schemas.microsoft.com/office/powerpoint/2010/main" val="244447298"/>
      </p:ext>
    </p:extLst>
  </p:cSld>
</p:sld>
</file>

<file path=ppt/slides/slide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E53AC2-DF65-4D5E-B374-7E1DAA230336}"/>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613E2C6-528A-4130-ACDE-DDA303D58A05}"/>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4</a:t>
            </a:r>
            <a:endParaRPr sz="1540"/>
          </a:p>
        </p:txBody>
      </p:sp>
      <p:sp>
        <p:nvSpPr>
          <p:cNvPr id="4" name="Text 2">
            <a:extLst xmlns:a="http://schemas.openxmlformats.org/drawingml/2006/main">
              <a:ext uri="{FF2B5EF4-FFF2-40B4-BE49-F238E27FC236}">
                <a16:creationId xmlns:a16="http://schemas.microsoft.com/office/drawing/2014/main" id="{F953E841-472A-4CB7-9189-0FF4C287C46C}"/>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Feasibility &amp; Implementation</a:t>
            </a:r>
            <a:endParaRPr sz="2600"/>
          </a:p>
        </p:txBody>
      </p:sp>
      <p:sp>
        <p:nvSpPr>
          <p:cNvPr id="5" name="Text 3">
            <a:extLst xmlns:a="http://schemas.openxmlformats.org/drawingml/2006/main">
              <a:ext uri="{FF2B5EF4-FFF2-40B4-BE49-F238E27FC236}">
                <a16:creationId xmlns:a16="http://schemas.microsoft.com/office/drawing/2014/main" id="{D6ABB879-6D69-492E-9D06-5C9A07834E0D}"/>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6B7280"/>
                </a:solidFill>
                <a:latin typeface="Nirmala UI"/>
                <a:ea typeface="Nirmala UI"/>
                <a:cs typeface="Nirmala UI"/>
              </a:rPr>
              <a:t>How ready is the solution, and what will it take to implement it on the ground?</a:t>
            </a:r>
            <a:endParaRPr sz="1100"/>
          </a:p>
        </p:txBody>
      </p:sp>
      <p:sp>
        <p:nvSpPr>
          <p:cNvPr id="6" name="Text 4">
            <a:extLst xmlns:a="http://schemas.openxmlformats.org/drawingml/2006/main">
              <a:ext uri="{FF2B5EF4-FFF2-40B4-BE49-F238E27FC236}">
                <a16:creationId xmlns:a16="http://schemas.microsoft.com/office/drawing/2014/main" id="{A0263D35-D344-449D-ACD2-C5CA85C4A8D8}"/>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4 of 6</a:t>
            </a:r>
            <a:endParaRPr sz="800"/>
          </a:p>
        </p:txBody>
      </p:sp>
      <p:sp>
        <p:nvSpPr>
          <p:cNvPr id="7" name="Text 5">
            <a:extLst xmlns:a="http://schemas.openxmlformats.org/drawingml/2006/main">
              <a:ext uri="{FF2B5EF4-FFF2-40B4-BE49-F238E27FC236}">
                <a16:creationId xmlns:a16="http://schemas.microsoft.com/office/drawing/2014/main" id="{B40584CB-0BCB-4F5E-9F75-53F3D81EEAA0}"/>
              </a:ext>
            </a:extLst>
          </p:cNvPr>
          <p:cNvSpPr>
            <a:spLocks xmlns:a="http://schemas.openxmlformats.org/drawingml/2006/main" noGrp="1"/>
          </p:cNvSpPr>
          <p:nvPr/>
        </p:nvSpPr>
        <p:spPr>
          <a:xfrm xmlns:a="http://schemas.openxmlformats.org/drawingml/2006/main">
            <a:off x="457200" y="1170432"/>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Current stage (mark ✔ where you are today)</a:t>
            </a:r>
            <a:endParaRPr sz="1200"/>
          </a:p>
        </p:txBody>
      </p:sp>
      <p:sp>
        <p:nvSpPr>
          <p:cNvPr id="8" name="Shape 6">
            <a:extLst xmlns:a="http://schemas.openxmlformats.org/drawingml/2006/main">
              <a:ext uri="{FF2B5EF4-FFF2-40B4-BE49-F238E27FC236}">
                <a16:creationId xmlns:a16="http://schemas.microsoft.com/office/drawing/2014/main" id="{1B6A4147-D947-4C25-9FAE-E7804F630D47}"/>
              </a:ext>
            </a:extLst>
          </p:cNvPr>
          <p:cNvSpPr>
            <a:spLocks xmlns:a="http://schemas.openxmlformats.org/drawingml/2006/main" noGrp="1"/>
          </p:cNvSpPr>
          <p:nvPr/>
        </p:nvSpPr>
        <p:spPr>
          <a:xfrm xmlns:a="http://schemas.openxmlformats.org/drawingml/2006/main">
            <a:off x="914400" y="1783080"/>
            <a:ext cx="7315200" cy="0"/>
          </a:xfrm>
          <a:prstGeom xmlns:a="http://schemas.openxmlformats.org/drawingml/2006/main" prst="line">
            <a:avLst/>
          </a:prstGeom>
          <a:noFill xmlns:a="http://schemas.openxmlformats.org/drawingml/2006/main"/>
          <a:ln xmlns:a="http://schemas.openxmlformats.org/drawingml/2006/main" w="25400">
            <a:solidFill>
              <a:srgbClr val="C3CAE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B9D35C71-14B4-491B-8929-C00D7E387E37}"/>
              </a:ext>
            </a:extLst>
          </p:cNvPr>
          <p:cNvSpPr>
            <a:spLocks xmlns:a="http://schemas.openxmlformats.org/drawingml/2006/main" noGrp="1"/>
          </p:cNvSpPr>
          <p:nvPr/>
        </p:nvSpPr>
        <p:spPr>
          <a:xfrm xmlns:a="http://schemas.openxmlformats.org/drawingml/2006/main">
            <a:off x="758952" y="1627632"/>
            <a:ext cx="310896" cy="310896"/>
          </a:xfrm>
          <a:prstGeom xmlns:a="http://schemas.openxmlformats.org/drawingml/2006/main" prst="ellipse">
            <a:avLst/>
          </a:prstGeom>
          <a:solidFill xmlns:a="http://schemas.openxmlformats.org/drawingml/2006/main">
            <a:srgbClr val="F28C28"/>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70162765-100F-4F14-BB98-5851F56D2A03}"/>
              </a:ext>
            </a:extLst>
          </p:cNvPr>
          <p:cNvSpPr>
            <a:spLocks xmlns:a="http://schemas.openxmlformats.org/drawingml/2006/main" noGrp="1"/>
          </p:cNvSpPr>
          <p:nvPr/>
        </p:nvSpPr>
        <p:spPr>
          <a:xfrm xmlns:a="http://schemas.openxmlformats.org/drawingml/2006/main">
            <a:off x="1828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Idea</a:t>
            </a:r>
            <a:endParaRPr sz="1000"/>
          </a:p>
        </p:txBody>
      </p:sp>
      <p:sp>
        <p:nvSpPr>
          <p:cNvPr id="11" name="Shape 9">
            <a:extLst xmlns:a="http://schemas.openxmlformats.org/drawingml/2006/main">
              <a:ext uri="{FF2B5EF4-FFF2-40B4-BE49-F238E27FC236}">
                <a16:creationId xmlns:a16="http://schemas.microsoft.com/office/drawing/2014/main" id="{D1F8C979-18BA-4D98-B486-6FB0714E0F38}"/>
              </a:ext>
            </a:extLst>
          </p:cNvPr>
          <p:cNvSpPr>
            <a:spLocks xmlns:a="http://schemas.openxmlformats.org/drawingml/2006/main" noGrp="1"/>
          </p:cNvSpPr>
          <p:nvPr/>
        </p:nvSpPr>
        <p:spPr>
          <a:xfrm xmlns:a="http://schemas.openxmlformats.org/drawingml/2006/main">
            <a:off x="2587752" y="1627632"/>
            <a:ext cx="310896" cy="310896"/>
          </a:xfrm>
          <a:prstGeom xmlns:a="http://schemas.openxmlformats.org/drawingml/2006/main" prst="ellipse">
            <a:avLst/>
          </a:prstGeom>
          <a:solidFill xmlns:a="http://schemas.openxmlformats.org/drawingml/2006/main">
            <a:srgbClr val="F28C28"/>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DA7479F-5C30-4881-B908-6E76C15C604C}"/>
              </a:ext>
            </a:extLst>
          </p:cNvPr>
          <p:cNvSpPr>
            <a:spLocks xmlns:a="http://schemas.openxmlformats.org/drawingml/2006/main" noGrp="1"/>
          </p:cNvSpPr>
          <p:nvPr/>
        </p:nvSpPr>
        <p:spPr>
          <a:xfrm xmlns:a="http://schemas.openxmlformats.org/drawingml/2006/main">
            <a:off x="20116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Proof of Concept</a:t>
            </a:r>
            <a:endParaRPr sz="1000"/>
          </a:p>
        </p:txBody>
      </p:sp>
      <p:sp>
        <p:nvSpPr>
          <p:cNvPr id="13" name="Shape 11">
            <a:extLst xmlns:a="http://schemas.openxmlformats.org/drawingml/2006/main">
              <a:ext uri="{FF2B5EF4-FFF2-40B4-BE49-F238E27FC236}">
                <a16:creationId xmlns:a16="http://schemas.microsoft.com/office/drawing/2014/main" id="{97421194-7467-41D5-85A9-3E646AEAA0F3}"/>
              </a:ext>
            </a:extLst>
          </p:cNvPr>
          <p:cNvSpPr>
            <a:spLocks xmlns:a="http://schemas.openxmlformats.org/drawingml/2006/main" noGrp="1"/>
          </p:cNvSpPr>
          <p:nvPr/>
        </p:nvSpPr>
        <p:spPr>
          <a:xfrm xmlns:a="http://schemas.openxmlformats.org/drawingml/2006/main">
            <a:off x="4416552" y="1627632"/>
            <a:ext cx="310896" cy="310896"/>
          </a:xfrm>
          <a:prstGeom xmlns:a="http://schemas.openxmlformats.org/drawingml/2006/main" prst="ellipse">
            <a:avLst/>
          </a:prstGeom>
          <a:solidFill xmlns:a="http://schemas.openxmlformats.org/drawingml/2006/main">
            <a:srgbClr val="F28C28"/>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6C756270-4329-4621-A02D-CEF70650D2F9}"/>
              </a:ext>
            </a:extLst>
          </p:cNvPr>
          <p:cNvSpPr>
            <a:spLocks xmlns:a="http://schemas.openxmlformats.org/drawingml/2006/main" noGrp="1"/>
          </p:cNvSpPr>
          <p:nvPr/>
        </p:nvSpPr>
        <p:spPr>
          <a:xfrm xmlns:a="http://schemas.openxmlformats.org/drawingml/2006/main">
            <a:off x="3657600" y="2011680"/>
            <a:ext cx="1828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 Working Prototype</a:t>
            </a:r>
            <a:endParaRPr sz="1000"/>
          </a:p>
        </p:txBody>
      </p:sp>
      <p:sp>
        <p:nvSpPr>
          <p:cNvPr id="15" name="Shape 13">
            <a:extLst xmlns:a="http://schemas.openxmlformats.org/drawingml/2006/main">
              <a:ext uri="{FF2B5EF4-FFF2-40B4-BE49-F238E27FC236}">
                <a16:creationId xmlns:a16="http://schemas.microsoft.com/office/drawing/2014/main" id="{9024DC8F-F8C2-4A3A-947C-2795C2E266CB}"/>
              </a:ext>
            </a:extLst>
          </p:cNvPr>
          <p:cNvSpPr>
            <a:spLocks xmlns:a="http://schemas.openxmlformats.org/drawingml/2006/main" noGrp="1"/>
          </p:cNvSpPr>
          <p:nvPr/>
        </p:nvSpPr>
        <p:spPr>
          <a:xfrm xmlns:a="http://schemas.openxmlformats.org/drawingml/2006/main">
            <a:off x="6245352" y="1627632"/>
            <a:ext cx="310896" cy="310896"/>
          </a:xfrm>
          <a:prstGeom xmlns:a="http://schemas.openxmlformats.org/drawingml/2006/main" prst="ellipse">
            <a:avLst/>
          </a:prstGeom>
          <a:solidFill xmlns:a="http://schemas.openxmlformats.org/drawingml/2006/main">
            <a:srgbClr val="FFFFFF"/>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D9815E1-25F3-45F3-A5D3-4450015A2FCA}"/>
              </a:ext>
            </a:extLst>
          </p:cNvPr>
          <p:cNvSpPr>
            <a:spLocks xmlns:a="http://schemas.openxmlformats.org/drawingml/2006/main" noGrp="1"/>
          </p:cNvSpPr>
          <p:nvPr/>
        </p:nvSpPr>
        <p:spPr>
          <a:xfrm xmlns:a="http://schemas.openxmlformats.org/drawingml/2006/main">
            <a:off x="56692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Field Pilot</a:t>
            </a:r>
            <a:endParaRPr sz="1000"/>
          </a:p>
        </p:txBody>
      </p:sp>
      <p:sp>
        <p:nvSpPr>
          <p:cNvPr id="17" name="Shape 15">
            <a:extLst xmlns:a="http://schemas.openxmlformats.org/drawingml/2006/main">
              <a:ext uri="{FF2B5EF4-FFF2-40B4-BE49-F238E27FC236}">
                <a16:creationId xmlns:a16="http://schemas.microsoft.com/office/drawing/2014/main" id="{90C5DDE6-3F75-4EF7-A233-7695090C8F82}"/>
              </a:ext>
            </a:extLst>
          </p:cNvPr>
          <p:cNvSpPr>
            <a:spLocks xmlns:a="http://schemas.openxmlformats.org/drawingml/2006/main" noGrp="1"/>
          </p:cNvSpPr>
          <p:nvPr/>
        </p:nvSpPr>
        <p:spPr>
          <a:xfrm xmlns:a="http://schemas.openxmlformats.org/drawingml/2006/main">
            <a:off x="8074152" y="1627632"/>
            <a:ext cx="310896" cy="310896"/>
          </a:xfrm>
          <a:prstGeom xmlns:a="http://schemas.openxmlformats.org/drawingml/2006/main" prst="ellipse">
            <a:avLst/>
          </a:prstGeom>
          <a:solidFill xmlns:a="http://schemas.openxmlformats.org/drawingml/2006/main">
            <a:srgbClr val="FFFFFF"/>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0C36B75E-8577-4A59-A545-A50585B8C6BC}"/>
              </a:ext>
            </a:extLst>
          </p:cNvPr>
          <p:cNvSpPr>
            <a:spLocks xmlns:a="http://schemas.openxmlformats.org/drawingml/2006/main" noGrp="1"/>
          </p:cNvSpPr>
          <p:nvPr/>
        </p:nvSpPr>
        <p:spPr>
          <a:xfrm xmlns:a="http://schemas.openxmlformats.org/drawingml/2006/main">
            <a:off x="74980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Ready to Deploy</a:t>
            </a:r>
            <a:endParaRPr sz="1000"/>
          </a:p>
        </p:txBody>
      </p:sp>
      <p:sp>
        <p:nvSpPr>
          <p:cNvPr id="19" name="Shape 17">
            <a:extLst xmlns:a="http://schemas.openxmlformats.org/drawingml/2006/main">
              <a:ext uri="{FF2B5EF4-FFF2-40B4-BE49-F238E27FC236}">
                <a16:creationId xmlns:a16="http://schemas.microsoft.com/office/drawing/2014/main" id="{F6D44596-2B15-402C-9758-F2002AD52DD9}"/>
              </a:ext>
            </a:extLst>
          </p:cNvPr>
          <p:cNvSpPr>
            <a:spLocks xmlns:a="http://schemas.openxmlformats.org/drawingml/2006/main" noGrp="1"/>
          </p:cNvSpPr>
          <p:nvPr/>
        </p:nvSpPr>
        <p:spPr>
          <a:xfrm xmlns:a="http://schemas.openxmlformats.org/drawingml/2006/main">
            <a:off x="45720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59FD751-3877-4098-8726-ADF87943BDF3}"/>
              </a:ext>
            </a:extLst>
          </p:cNvPr>
          <p:cNvSpPr>
            <a:spLocks xmlns:a="http://schemas.openxmlformats.org/drawingml/2006/main" noGrp="1"/>
          </p:cNvSpPr>
          <p:nvPr/>
        </p:nvSpPr>
        <p:spPr>
          <a:xfrm xmlns:a="http://schemas.openxmlformats.org/drawingml/2006/main">
            <a:off x="59436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Technology</a:t>
            </a:r>
            <a:endParaRPr sz="1200"/>
          </a:p>
        </p:txBody>
      </p:sp>
      <p:sp>
        <p:nvSpPr>
          <p:cNvPr id="21" name="Text 19">
            <a:extLst xmlns:a="http://schemas.openxmlformats.org/drawingml/2006/main">
              <a:ext uri="{FF2B5EF4-FFF2-40B4-BE49-F238E27FC236}">
                <a16:creationId xmlns:a16="http://schemas.microsoft.com/office/drawing/2014/main" id="{85163C88-0F01-48E5-B632-E38139462DC0}"/>
              </a:ext>
            </a:extLst>
          </p:cNvPr>
          <p:cNvSpPr>
            <a:spLocks xmlns:a="http://schemas.openxmlformats.org/drawingml/2006/main" noGrp="1"/>
          </p:cNvSpPr>
          <p:nvPr/>
        </p:nvSpPr>
        <p:spPr>
          <a:xfrm xmlns:a="http://schemas.openxmlformats.org/drawingml/2006/main">
            <a:off x="59436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Next.js PWA with local visit queue/sync, Marathi rules-based parser, browser speech-to-text when available, offline audio capture, OTP/JWT login and SQLite. Configurable SMS gateway supports OTP delivery.</a:t>
            </a:r>
            <a:endParaRPr sz="1000">
              <a:solidFill>
                <a:schemeClr val="accent3">
                  <a:lumMod val="75000"/>
                </a:schemeClr>
              </a:solidFill>
            </a:endParaRPr>
          </a:p>
        </p:txBody>
      </p:sp>
      <p:sp>
        <p:nvSpPr>
          <p:cNvPr id="22" name="Shape 20">
            <a:extLst xmlns:a="http://schemas.openxmlformats.org/drawingml/2006/main">
              <a:ext uri="{FF2B5EF4-FFF2-40B4-BE49-F238E27FC236}">
                <a16:creationId xmlns:a16="http://schemas.microsoft.com/office/drawing/2014/main" id="{032AC17D-DC88-4264-ABB9-5D9076C6FDB7}"/>
              </a:ext>
            </a:extLst>
          </p:cNvPr>
          <p:cNvSpPr>
            <a:spLocks xmlns:a="http://schemas.openxmlformats.org/drawingml/2006/main" noGrp="1"/>
          </p:cNvSpPr>
          <p:nvPr/>
        </p:nvSpPr>
        <p:spPr>
          <a:xfrm xmlns:a="http://schemas.openxmlformats.org/drawingml/2006/main">
            <a:off x="256032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75897ECD-B29A-4483-9D9C-6CB6102B41D9}"/>
              </a:ext>
            </a:extLst>
          </p:cNvPr>
          <p:cNvSpPr>
            <a:spLocks xmlns:a="http://schemas.openxmlformats.org/drawingml/2006/main" noGrp="1"/>
          </p:cNvSpPr>
          <p:nvPr/>
        </p:nvSpPr>
        <p:spPr>
          <a:xfrm xmlns:a="http://schemas.openxmlformats.org/drawingml/2006/main">
            <a:off x="269748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Estimated cost</a:t>
            </a:r>
            <a:endParaRPr sz="1200"/>
          </a:p>
        </p:txBody>
      </p:sp>
      <p:sp>
        <p:nvSpPr>
          <p:cNvPr id="24" name="Text 22">
            <a:extLst xmlns:a="http://schemas.openxmlformats.org/drawingml/2006/main">
              <a:ext uri="{FF2B5EF4-FFF2-40B4-BE49-F238E27FC236}">
                <a16:creationId xmlns:a16="http://schemas.microsoft.com/office/drawing/2014/main" id="{52380747-6C00-40A7-8018-6CDC6BB15348}"/>
              </a:ext>
            </a:extLst>
          </p:cNvPr>
          <p:cNvSpPr>
            <a:spLocks xmlns:a="http://schemas.openxmlformats.org/drawingml/2006/main" noGrp="1"/>
          </p:cNvSpPr>
          <p:nvPr/>
        </p:nvSpPr>
        <p:spPr>
          <a:xfrm xmlns:a="http://schemas.openxmlformats.org/drawingml/2006/main">
            <a:off x="269748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6B7280"/>
                </a:solidFill>
                <a:latin typeface="Nirmala UI"/>
                <a:ea typeface="Nirmala UI"/>
                <a:cs typeface="Nirmala UI"/>
              </a:rPr>
              <a:t>Open-source; no licence fees. Optional SMS gateway costs vary by provider and OTP volume.</a:t>
            </a:r>
            <a:endParaRPr sz="1000"/>
          </a:p>
          <a:p xmlns:a="http://schemas.openxmlformats.org/drawingml/2006/main">
            <a:pPr marL="0" indent="0">
              <a:spcBef>
                <a:spcPts val="600"/>
              </a:spcBef>
              <a:buNone/>
            </a:pPr>
            <a:r>
              <a:rPr sz="1000" b="1" i="0">
                <a:solidFill>
                  <a:srgbClr val="1F2A5C"/>
                </a:solidFill>
                <a:latin typeface="Nirmala UI"/>
                <a:ea typeface="Nirmala UI"/>
                <a:cs typeface="Nirmala UI"/>
              </a:rPr>
              <a:t>Pilot estimate: </a:t>
            </a:r>
            <a:r>
              <a:rPr sz="1000" i="1">
                <a:solidFill>
                  <a:srgbClr val="6B7280"/>
                </a:solidFill>
                <a:latin typeface="Nirmala UI"/>
                <a:ea typeface="Nirmala UI"/>
                <a:cs typeface="Nirmala UI"/>
              </a:rPr>
              <a:t>confirm after provider selection</a:t>
            </a:r>
            <a:endParaRPr sz="1000"/>
          </a:p>
          <a:p xmlns:a="http://schemas.openxmlformats.org/drawingml/2006/main">
            <a:pPr marL="0" indent="0">
              <a:spcBef>
                <a:spcPts val="600"/>
              </a:spcBef>
              <a:buNone/>
            </a:pPr>
            <a:r>
              <a:rPr sz="1000" b="1" i="0">
                <a:solidFill>
                  <a:srgbClr val="1F2A5C"/>
                </a:solidFill>
                <a:latin typeface="Nirmala UI"/>
                <a:ea typeface="Nirmala UI"/>
                <a:cs typeface="Nirmala UI"/>
              </a:rPr>
              <a:t>At scale: </a:t>
            </a:r>
            <a:r>
              <a:rPr sz="1000" i="1">
                <a:solidFill>
                  <a:srgbClr val="6B7280"/>
                </a:solidFill>
                <a:latin typeface="Nirmala UI"/>
                <a:ea typeface="Nirmala UI"/>
                <a:cs typeface="Nirmala UI"/>
              </a:rPr>
              <a:t>model after pilot traffic</a:t>
            </a:r>
            <a:endParaRPr sz="1000"/>
          </a:p>
        </p:txBody>
      </p:sp>
      <p:sp>
        <p:nvSpPr>
          <p:cNvPr id="25" name="Shape 23">
            <a:extLst xmlns:a="http://schemas.openxmlformats.org/drawingml/2006/main">
              <a:ext uri="{FF2B5EF4-FFF2-40B4-BE49-F238E27FC236}">
                <a16:creationId xmlns:a16="http://schemas.microsoft.com/office/drawing/2014/main" id="{6EB703FF-4D15-4D33-A7BA-3246955DE88B}"/>
              </a:ext>
            </a:extLst>
          </p:cNvPr>
          <p:cNvSpPr>
            <a:spLocks xmlns:a="http://schemas.openxmlformats.org/drawingml/2006/main" noGrp="1"/>
          </p:cNvSpPr>
          <p:nvPr/>
        </p:nvSpPr>
        <p:spPr>
          <a:xfrm xmlns:a="http://schemas.openxmlformats.org/drawingml/2006/main">
            <a:off x="466344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49E77027-CAB5-4B66-92DE-CC594FA7333C}"/>
              </a:ext>
            </a:extLst>
          </p:cNvPr>
          <p:cNvSpPr>
            <a:spLocks xmlns:a="http://schemas.openxmlformats.org/drawingml/2006/main" noGrp="1"/>
          </p:cNvSpPr>
          <p:nvPr/>
        </p:nvSpPr>
        <p:spPr>
          <a:xfrm xmlns:a="http://schemas.openxmlformats.org/drawingml/2006/main">
            <a:off x="480060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Timeline</a:t>
            </a:r>
            <a:endParaRPr sz="1200"/>
          </a:p>
        </p:txBody>
      </p:sp>
      <p:sp>
        <p:nvSpPr>
          <p:cNvPr id="27" name="Text 25">
            <a:extLst xmlns:a="http://schemas.openxmlformats.org/drawingml/2006/main">
              <a:ext uri="{FF2B5EF4-FFF2-40B4-BE49-F238E27FC236}">
                <a16:creationId xmlns:a16="http://schemas.microsoft.com/office/drawing/2014/main" id="{F78E2D45-526E-4AA7-B48D-12CBB4C1E714}"/>
              </a:ext>
            </a:extLst>
          </p:cNvPr>
          <p:cNvSpPr>
            <a:spLocks xmlns:a="http://schemas.openxmlformats.org/drawingml/2006/main" noGrp="1"/>
          </p:cNvSpPr>
          <p:nvPr/>
        </p:nvSpPr>
        <p:spPr>
          <a:xfrm xmlns:a="http://schemas.openxmlformats.org/drawingml/2006/main">
            <a:off x="480060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Done: working prototype. 3 months: field testing, PostgreSQL move. 6 months: pilot with 20–30 ASHA workers in one block. 12 months: evaluate and plan district rollout.</a:t>
            </a:r>
            <a:endParaRPr sz="1000">
              <a:solidFill>
                <a:schemeClr val="accent3">
                  <a:lumMod val="75000"/>
                </a:schemeClr>
              </a:solidFill>
            </a:endParaRPr>
          </a:p>
        </p:txBody>
      </p:sp>
      <p:sp>
        <p:nvSpPr>
          <p:cNvPr id="28" name="Shape 26">
            <a:extLst xmlns:a="http://schemas.openxmlformats.org/drawingml/2006/main">
              <a:ext uri="{FF2B5EF4-FFF2-40B4-BE49-F238E27FC236}">
                <a16:creationId xmlns:a16="http://schemas.microsoft.com/office/drawing/2014/main" id="{E8FC8E9B-FA43-4A73-842A-AF61C601A82B}"/>
              </a:ext>
            </a:extLst>
          </p:cNvPr>
          <p:cNvSpPr>
            <a:spLocks xmlns:a="http://schemas.openxmlformats.org/drawingml/2006/main" noGrp="1"/>
          </p:cNvSpPr>
          <p:nvPr/>
        </p:nvSpPr>
        <p:spPr>
          <a:xfrm xmlns:a="http://schemas.openxmlformats.org/drawingml/2006/main">
            <a:off x="676656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65AC805E-98AA-46FC-8C2E-E20944FF8F39}"/>
              </a:ext>
            </a:extLst>
          </p:cNvPr>
          <p:cNvSpPr>
            <a:spLocks xmlns:a="http://schemas.openxmlformats.org/drawingml/2006/main" noGrp="1"/>
          </p:cNvSpPr>
          <p:nvPr/>
        </p:nvSpPr>
        <p:spPr>
          <a:xfrm xmlns:a="http://schemas.openxmlformats.org/drawingml/2006/main">
            <a:off x="690372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Partners</a:t>
            </a:r>
            <a:endParaRPr sz="1200"/>
          </a:p>
        </p:txBody>
      </p:sp>
      <p:sp>
        <p:nvSpPr>
          <p:cNvPr id="30" name="Text 28">
            <a:extLst xmlns:a="http://schemas.openxmlformats.org/drawingml/2006/main">
              <a:ext uri="{FF2B5EF4-FFF2-40B4-BE49-F238E27FC236}">
                <a16:creationId xmlns:a16="http://schemas.microsoft.com/office/drawing/2014/main" id="{A8D507EC-06EB-4071-81FB-7D1E4D70DE1A}"/>
              </a:ext>
            </a:extLst>
          </p:cNvPr>
          <p:cNvSpPr>
            <a:spLocks xmlns:a="http://schemas.openxmlformats.org/drawingml/2006/main" noGrp="1"/>
          </p:cNvSpPr>
          <p:nvPr/>
        </p:nvSpPr>
        <p:spPr>
          <a:xfrm xmlns:a="http://schemas.openxmlformats.org/drawingml/2006/main">
            <a:off x="690372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chemeClr val="accent3">
                    <a:lumMod val="75000"/>
                  </a:schemeClr>
                </a:solidFill>
                <a:latin typeface="Nirmala UI"/>
                <a:ea typeface="Nirmala UI"/>
                <a:cs typeface="Nirmala UI"/>
              </a:rPr>
              <a:t>Public Health Department, Women &amp; Child Development / ICDS, block and PHC officials, and an implementation or community-health partner.</a:t>
            </a:r>
            <a:endParaRPr sz="1000">
              <a:solidFill>
                <a:schemeClr val="accent3">
                  <a:lumMod val="75000"/>
                </a:schemeClr>
              </a:solidFill>
            </a:endParaRPr>
          </a:p>
        </p:txBody>
      </p:sp>
    </p:spTree>
    <p:extLst>
      <p:ext uri="{BB962C8B-B14F-4D97-AF65-F5344CB8AC3E}">
        <p14:creationId xmlns:p14="http://schemas.microsoft.com/office/powerpoint/2010/main" val="1869989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8038299-50CC-45E3-A56E-BF08DCBFE969}"/>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08385F4B-A539-4801-B557-83D4131AC22A}"/>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5</a:t>
            </a:r>
            <a:endParaRPr sz="1540"/>
          </a:p>
        </p:txBody>
      </p:sp>
      <p:sp>
        <p:nvSpPr>
          <p:cNvPr id="4" name="Text 2">
            <a:extLst xmlns:a="http://schemas.openxmlformats.org/drawingml/2006/main">
              <a:ext uri="{FF2B5EF4-FFF2-40B4-BE49-F238E27FC236}">
                <a16:creationId xmlns:a16="http://schemas.microsoft.com/office/drawing/2014/main" id="{F87CD18E-D5AA-4E7C-A791-91BC4FD99E45}"/>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Impact &amp; Scalability</a:t>
            </a:r>
            <a:endParaRPr sz="2600"/>
          </a:p>
        </p:txBody>
      </p:sp>
      <p:sp>
        <p:nvSpPr>
          <p:cNvPr id="5" name="Text 3">
            <a:extLst xmlns:a="http://schemas.openxmlformats.org/drawingml/2006/main">
              <a:ext uri="{FF2B5EF4-FFF2-40B4-BE49-F238E27FC236}">
                <a16:creationId xmlns:a16="http://schemas.microsoft.com/office/drawing/2014/main" id="{5110854C-0EF0-475B-AA0B-A2E05D95768D}"/>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6B7280"/>
                </a:solidFill>
                <a:latin typeface="Nirmala UI"/>
                <a:ea typeface="Nirmala UI"/>
                <a:cs typeface="Nirmala UI"/>
              </a:rPr>
              <a:t>What change will your solution create, and how can it grow beyond the first location?</a:t>
            </a:r>
            <a:endParaRPr sz="1100"/>
          </a:p>
        </p:txBody>
      </p:sp>
      <p:sp>
        <p:nvSpPr>
          <p:cNvPr id="6" name="Text 4">
            <a:extLst xmlns:a="http://schemas.openxmlformats.org/drawingml/2006/main">
              <a:ext uri="{FF2B5EF4-FFF2-40B4-BE49-F238E27FC236}">
                <a16:creationId xmlns:a16="http://schemas.microsoft.com/office/drawing/2014/main" id="{9A03EF4E-F880-4315-89BF-CC7000BDB092}"/>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5 of 6</a:t>
            </a:r>
            <a:endParaRPr sz="800"/>
          </a:p>
        </p:txBody>
      </p:sp>
      <p:sp>
        <p:nvSpPr>
          <p:cNvPr id="7" name="Shape 5">
            <a:extLst xmlns:a="http://schemas.openxmlformats.org/drawingml/2006/main">
              <a:ext uri="{FF2B5EF4-FFF2-40B4-BE49-F238E27FC236}">
                <a16:creationId xmlns:a16="http://schemas.microsoft.com/office/drawing/2014/main" id="{CED4E175-BB1C-48E7-B74C-F18EF263A1E6}"/>
              </a:ext>
            </a:extLst>
          </p:cNvPr>
          <p:cNvSpPr>
            <a:spLocks xmlns:a="http://schemas.openxmlformats.org/drawingml/2006/main" noGrp="1"/>
          </p:cNvSpPr>
          <p:nvPr/>
        </p:nvSpPr>
        <p:spPr>
          <a:xfrm xmlns:a="http://schemas.openxmlformats.org/drawingml/2006/main">
            <a:off x="457200" y="1188720"/>
            <a:ext cx="2606040" cy="1463040"/>
          </a:xfrm>
          <a:prstGeom xmlns:a="http://schemas.openxmlformats.org/drawingml/2006/main" prst="roundRect">
            <a:avLst>
              <a:gd name="adj" fmla="val 500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6081EAA2-DDB2-4359-BAE0-0D108C0818BD}"/>
              </a:ext>
            </a:extLst>
          </p:cNvPr>
          <p:cNvSpPr>
            <a:spLocks xmlns:a="http://schemas.openxmlformats.org/drawingml/2006/main" noGrp="1"/>
          </p:cNvSpPr>
          <p:nvPr/>
        </p:nvSpPr>
        <p:spPr>
          <a:xfrm xmlns:a="http://schemas.openxmlformats.org/drawingml/2006/main">
            <a:off x="548640" y="1280160"/>
            <a:ext cx="2423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000" b="1">
                <a:solidFill>
                  <a:srgbClr val="1B2A5C"/>
                </a:solidFill>
                <a:latin typeface="Nirmala UI"/>
                <a:ea typeface="Nirmala UI"/>
                <a:cs typeface="Nirmala UI"/>
              </a:rPr>
              <a:t>20–30</a:t>
            </a:r>
            <a:endParaRPr sz="3000"/>
          </a:p>
        </p:txBody>
      </p:sp>
      <p:sp>
        <p:nvSpPr>
          <p:cNvPr id="9" name="Text 7">
            <a:extLst xmlns:a="http://schemas.openxmlformats.org/drawingml/2006/main">
              <a:ext uri="{FF2B5EF4-FFF2-40B4-BE49-F238E27FC236}">
                <a16:creationId xmlns:a16="http://schemas.microsoft.com/office/drawing/2014/main" id="{1766E341-903B-4EB2-A1C6-E72DCBC05C31}"/>
              </a:ext>
            </a:extLst>
          </p:cNvPr>
          <p:cNvSpPr>
            <a:spLocks xmlns:a="http://schemas.openxmlformats.org/drawingml/2006/main" noGrp="1"/>
          </p:cNvSpPr>
          <p:nvPr/>
        </p:nvSpPr>
        <p:spPr>
          <a:xfrm xmlns:a="http://schemas.openxmlformats.org/drawingml/2006/main">
            <a:off x="548640" y="193852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F2937"/>
                </a:solidFill>
                <a:latin typeface="Nirmala UI"/>
                <a:ea typeface="Nirmala UI"/>
                <a:cs typeface="Nirmala UI"/>
              </a:rPr>
              <a:t>Beneficiaries reached</a:t>
            </a:r>
            <a:endParaRPr sz="1100"/>
          </a:p>
        </p:txBody>
      </p:sp>
      <p:sp>
        <p:nvSpPr>
          <p:cNvPr id="10" name="Text 8">
            <a:extLst xmlns:a="http://schemas.openxmlformats.org/drawingml/2006/main">
              <a:ext uri="{FF2B5EF4-FFF2-40B4-BE49-F238E27FC236}">
                <a16:creationId xmlns:a16="http://schemas.microsoft.com/office/drawing/2014/main" id="{0080E629-EFC2-40F6-BC8B-736849B87213}"/>
              </a:ext>
            </a:extLst>
          </p:cNvPr>
          <p:cNvSpPr>
            <a:spLocks xmlns:a="http://schemas.openxmlformats.org/drawingml/2006/main" noGrp="1"/>
          </p:cNvSpPr>
          <p:nvPr/>
        </p:nvSpPr>
        <p:spPr>
          <a:xfrm xmlns:a="http://schemas.openxmlformats.org/drawingml/2006/main">
            <a:off x="548640" y="2212848"/>
            <a:ext cx="2423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6B7280"/>
                </a:solidFill>
                <a:latin typeface="Nirmala UI"/>
                <a:ea typeface="Nirmala UI"/>
                <a:cs typeface="Nirmala UI"/>
              </a:rPr>
              <a:t>ASHA workers in the first block-level pilot</a:t>
            </a:r>
            <a:endParaRPr sz="900"/>
          </a:p>
        </p:txBody>
      </p:sp>
      <p:sp>
        <p:nvSpPr>
          <p:cNvPr id="11" name="Shape 9">
            <a:extLst xmlns:a="http://schemas.openxmlformats.org/drawingml/2006/main">
              <a:ext uri="{FF2B5EF4-FFF2-40B4-BE49-F238E27FC236}">
                <a16:creationId xmlns:a16="http://schemas.microsoft.com/office/drawing/2014/main" id="{F23358C0-3E78-400C-8538-52E182B1426A}"/>
              </a:ext>
            </a:extLst>
          </p:cNvPr>
          <p:cNvSpPr>
            <a:spLocks xmlns:a="http://schemas.openxmlformats.org/drawingml/2006/main" noGrp="1"/>
          </p:cNvSpPr>
          <p:nvPr/>
        </p:nvSpPr>
        <p:spPr>
          <a:xfrm xmlns:a="http://schemas.openxmlformats.org/drawingml/2006/main">
            <a:off x="3264408" y="1188720"/>
            <a:ext cx="2606040" cy="1463040"/>
          </a:xfrm>
          <a:prstGeom xmlns:a="http://schemas.openxmlformats.org/drawingml/2006/main" prst="roundRect">
            <a:avLst>
              <a:gd name="adj" fmla="val 500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30BAAA1D-73E2-4694-8B02-405891C5D109}"/>
              </a:ext>
            </a:extLst>
          </p:cNvPr>
          <p:cNvSpPr>
            <a:spLocks xmlns:a="http://schemas.openxmlformats.org/drawingml/2006/main" noGrp="1"/>
          </p:cNvSpPr>
          <p:nvPr/>
        </p:nvSpPr>
        <p:spPr>
          <a:xfrm xmlns:a="http://schemas.openxmlformats.org/drawingml/2006/main">
            <a:off x="3355848" y="1280160"/>
            <a:ext cx="2423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2800" b="1">
                <a:solidFill>
                  <a:srgbClr val="002060"/>
                </a:solidFill>
                <a:latin typeface="Nirmala UI"/>
                <a:ea typeface="Nirmala UI"/>
                <a:cs typeface="Nirmala UI"/>
              </a:rPr>
              <a:t>30–40%</a:t>
            </a:r>
            <a:endParaRPr sz="3000" b="1">
              <a:solidFill>
                <a:srgbClr val="002060"/>
              </a:solidFill>
              <a:latin typeface="Nirmala UI"/>
              <a:ea typeface="Nirmala UI"/>
              <a:cs typeface="Nirmala UI"/>
            </a:endParaRPr>
          </a:p>
        </p:txBody>
      </p:sp>
      <p:sp>
        <p:nvSpPr>
          <p:cNvPr id="13" name="Text 11">
            <a:extLst xmlns:a="http://schemas.openxmlformats.org/drawingml/2006/main">
              <a:ext uri="{FF2B5EF4-FFF2-40B4-BE49-F238E27FC236}">
                <a16:creationId xmlns:a16="http://schemas.microsoft.com/office/drawing/2014/main" id="{16455CDC-D7A2-406D-8CD1-E844469B5082}"/>
              </a:ext>
            </a:extLst>
          </p:cNvPr>
          <p:cNvSpPr>
            <a:spLocks xmlns:a="http://schemas.openxmlformats.org/drawingml/2006/main" noGrp="1"/>
          </p:cNvSpPr>
          <p:nvPr/>
        </p:nvSpPr>
        <p:spPr>
          <a:xfrm xmlns:a="http://schemas.openxmlformats.org/drawingml/2006/main">
            <a:off x="3355848" y="193852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F2937"/>
                </a:solidFill>
                <a:latin typeface="Nirmala UI"/>
                <a:ea typeface="Nirmala UI"/>
                <a:cs typeface="Nirmala UI"/>
              </a:rPr>
              <a:t>Saving in cost / time</a:t>
            </a:r>
            <a:endParaRPr sz="1100"/>
          </a:p>
        </p:txBody>
      </p:sp>
      <p:sp>
        <p:nvSpPr>
          <p:cNvPr id="14" name="Text 12">
            <a:extLst xmlns:a="http://schemas.openxmlformats.org/drawingml/2006/main">
              <a:ext uri="{FF2B5EF4-FFF2-40B4-BE49-F238E27FC236}">
                <a16:creationId xmlns:a16="http://schemas.microsoft.com/office/drawing/2014/main" id="{20155182-00B2-4FCB-9760-5F02B3D2245A}"/>
              </a:ext>
            </a:extLst>
          </p:cNvPr>
          <p:cNvSpPr>
            <a:spLocks xmlns:a="http://schemas.openxmlformats.org/drawingml/2006/main" noGrp="1"/>
          </p:cNvSpPr>
          <p:nvPr/>
        </p:nvSpPr>
        <p:spPr>
          <a:xfrm xmlns:a="http://schemas.openxmlformats.org/drawingml/2006/main">
            <a:off x="3355848" y="2212848"/>
            <a:ext cx="2423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6B7280"/>
                </a:solidFill>
                <a:latin typeface="Nirmala UI"/>
                <a:ea typeface="Nirmala UI"/>
                <a:cs typeface="Nirmala UI"/>
              </a:rPr>
              <a:t>reduction in record-entry and follow-up time during pilot (estimated target)</a:t>
            </a:r>
            <a:endParaRPr sz="900"/>
          </a:p>
        </p:txBody>
      </p:sp>
      <p:sp>
        <p:nvSpPr>
          <p:cNvPr id="15" name="Shape 13">
            <a:extLst xmlns:a="http://schemas.openxmlformats.org/drawingml/2006/main">
              <a:ext uri="{FF2B5EF4-FFF2-40B4-BE49-F238E27FC236}">
                <a16:creationId xmlns:a16="http://schemas.microsoft.com/office/drawing/2014/main" id="{B25A9735-942E-424E-B93B-DB0623BD2660}"/>
              </a:ext>
            </a:extLst>
          </p:cNvPr>
          <p:cNvSpPr>
            <a:spLocks xmlns:a="http://schemas.openxmlformats.org/drawingml/2006/main" noGrp="1"/>
          </p:cNvSpPr>
          <p:nvPr/>
        </p:nvSpPr>
        <p:spPr>
          <a:xfrm xmlns:a="http://schemas.openxmlformats.org/drawingml/2006/main">
            <a:off x="6071616" y="1188720"/>
            <a:ext cx="2606040" cy="1463040"/>
          </a:xfrm>
          <a:prstGeom xmlns:a="http://schemas.openxmlformats.org/drawingml/2006/main" prst="roundRect">
            <a:avLst>
              <a:gd name="adj" fmla="val 500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CAAB141-3096-40F5-BB3A-3032302A64F3}"/>
              </a:ext>
            </a:extLst>
          </p:cNvPr>
          <p:cNvSpPr>
            <a:spLocks xmlns:a="http://schemas.openxmlformats.org/drawingml/2006/main" noGrp="1"/>
          </p:cNvSpPr>
          <p:nvPr/>
        </p:nvSpPr>
        <p:spPr>
          <a:xfrm xmlns:a="http://schemas.openxmlformats.org/drawingml/2006/main">
            <a:off x="6163056" y="1280160"/>
            <a:ext cx="2423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000" b="1">
                <a:solidFill>
                  <a:srgbClr val="1B2A5C"/>
                </a:solidFill>
                <a:latin typeface="Nirmala UI"/>
                <a:ea typeface="Nirmala UI"/>
                <a:cs typeface="Nirmala UI"/>
              </a:rPr>
              <a:t>50K–70K</a:t>
            </a:r>
            <a:endParaRPr sz="3000"/>
          </a:p>
        </p:txBody>
      </p:sp>
      <p:sp>
        <p:nvSpPr>
          <p:cNvPr id="17" name="Text 15">
            <a:extLst xmlns:a="http://schemas.openxmlformats.org/drawingml/2006/main">
              <a:ext uri="{FF2B5EF4-FFF2-40B4-BE49-F238E27FC236}">
                <a16:creationId xmlns:a16="http://schemas.microsoft.com/office/drawing/2014/main" id="{0A8591C5-DD8C-401B-B476-CA5A3B5C0386}"/>
              </a:ext>
            </a:extLst>
          </p:cNvPr>
          <p:cNvSpPr>
            <a:spLocks xmlns:a="http://schemas.openxmlformats.org/drawingml/2006/main" noGrp="1"/>
          </p:cNvSpPr>
          <p:nvPr/>
        </p:nvSpPr>
        <p:spPr>
          <a:xfrm xmlns:a="http://schemas.openxmlformats.org/drawingml/2006/main">
            <a:off x="6163056" y="193852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F2937"/>
                </a:solidFill>
                <a:latin typeface="Nirmala UI"/>
                <a:ea typeface="Nirmala UI"/>
                <a:cs typeface="Nirmala UI"/>
              </a:rPr>
              <a:t>Frontline workers</a:t>
            </a:r>
            <a:endParaRPr sz="1100"/>
          </a:p>
        </p:txBody>
      </p:sp>
      <p:sp>
        <p:nvSpPr>
          <p:cNvPr id="18" name="Text 16">
            <a:extLst xmlns:a="http://schemas.openxmlformats.org/drawingml/2006/main">
              <a:ext uri="{FF2B5EF4-FFF2-40B4-BE49-F238E27FC236}">
                <a16:creationId xmlns:a16="http://schemas.microsoft.com/office/drawing/2014/main" id="{DBFA8F54-7E50-4232-A812-09C3F650D469}"/>
              </a:ext>
            </a:extLst>
          </p:cNvPr>
          <p:cNvSpPr>
            <a:spLocks xmlns:a="http://schemas.openxmlformats.org/drawingml/2006/main" noGrp="1"/>
          </p:cNvSpPr>
          <p:nvPr/>
        </p:nvSpPr>
        <p:spPr>
          <a:xfrm xmlns:a="http://schemas.openxmlformats.org/drawingml/2006/main">
            <a:off x="6163056" y="2212848"/>
            <a:ext cx="2423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6B7280"/>
                </a:solidFill>
                <a:latin typeface="Nirmala UI"/>
                <a:ea typeface="Nirmala UI"/>
                <a:cs typeface="Nirmala UI"/>
              </a:rPr>
              <a:t>potential scale across rural Maharashtra</a:t>
            </a:r>
            <a:endParaRPr sz="900"/>
          </a:p>
        </p:txBody>
      </p:sp>
      <p:sp>
        <p:nvSpPr>
          <p:cNvPr id="19" name="Shape 17">
            <a:extLst xmlns:a="http://schemas.openxmlformats.org/drawingml/2006/main">
              <a:ext uri="{FF2B5EF4-FFF2-40B4-BE49-F238E27FC236}">
                <a16:creationId xmlns:a16="http://schemas.microsoft.com/office/drawing/2014/main" id="{C90E4AE0-3E2F-43D4-A2D7-BCB3AFE19586}"/>
              </a:ext>
            </a:extLst>
          </p:cNvPr>
          <p:cNvSpPr>
            <a:spLocks xmlns:a="http://schemas.openxmlformats.org/drawingml/2006/main" noGrp="1"/>
          </p:cNvSpPr>
          <p:nvPr/>
        </p:nvSpPr>
        <p:spPr>
          <a:xfrm xmlns:a="http://schemas.openxmlformats.org/drawingml/2006/main">
            <a:off x="457200" y="2834640"/>
            <a:ext cx="2606040" cy="178308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626267F-ECB9-4554-B95B-ECA9119C4A7C}"/>
              </a:ext>
            </a:extLst>
          </p:cNvPr>
          <p:cNvSpPr>
            <a:spLocks xmlns:a="http://schemas.openxmlformats.org/drawingml/2006/main" noGrp="1"/>
          </p:cNvSpPr>
          <p:nvPr/>
        </p:nvSpPr>
        <p:spPr>
          <a:xfrm xmlns:a="http://schemas.openxmlformats.org/drawingml/2006/main">
            <a:off x="594360" y="2944368"/>
            <a:ext cx="2331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Social impact</a:t>
            </a:r>
            <a:endParaRPr sz="1200"/>
          </a:p>
        </p:txBody>
      </p:sp>
      <p:sp>
        <p:nvSpPr>
          <p:cNvPr id="21" name="Text 19">
            <a:extLst xmlns:a="http://schemas.openxmlformats.org/drawingml/2006/main">
              <a:ext uri="{FF2B5EF4-FFF2-40B4-BE49-F238E27FC236}">
                <a16:creationId xmlns:a16="http://schemas.microsoft.com/office/drawing/2014/main" id="{0F8087B7-6AEB-4199-B097-149EB17BEE5A}"/>
              </a:ext>
            </a:extLst>
          </p:cNvPr>
          <p:cNvSpPr>
            <a:spLocks xmlns:a="http://schemas.openxmlformats.org/drawingml/2006/main" noGrp="1"/>
          </p:cNvSpPr>
          <p:nvPr/>
        </p:nvSpPr>
        <p:spPr>
          <a:xfrm xmlns:a="http://schemas.openxmlformats.org/drawingml/2006/main">
            <a:off x="594360" y="3218688"/>
            <a:ext cx="233172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6B7280"/>
                </a:solidFill>
                <a:latin typeface="Nirmala UI"/>
                <a:ea typeface="Nirmala UI"/>
                <a:cs typeface="Nirmala UI"/>
              </a:rPr>
              <a:t>Faster and more complete maternal and child follow-ups; fewer missed high-risk cases; less paperwork; more accessible and inclusive digital support; and better data for government decisions.</a:t>
            </a:r>
            <a:endParaRPr sz="1000"/>
          </a:p>
        </p:txBody>
      </p:sp>
      <p:sp>
        <p:nvSpPr>
          <p:cNvPr id="22" name="Shape 20">
            <a:extLst xmlns:a="http://schemas.openxmlformats.org/drawingml/2006/main">
              <a:ext uri="{FF2B5EF4-FFF2-40B4-BE49-F238E27FC236}">
                <a16:creationId xmlns:a16="http://schemas.microsoft.com/office/drawing/2014/main" id="{A310E16E-A72E-4283-B5D0-2107C5E348C2}"/>
              </a:ext>
            </a:extLst>
          </p:cNvPr>
          <p:cNvSpPr>
            <a:spLocks xmlns:a="http://schemas.openxmlformats.org/drawingml/2006/main" noGrp="1"/>
          </p:cNvSpPr>
          <p:nvPr/>
        </p:nvSpPr>
        <p:spPr>
          <a:xfrm xmlns:a="http://schemas.openxmlformats.org/drawingml/2006/main">
            <a:off x="3264408" y="2834640"/>
            <a:ext cx="2606040" cy="178308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1EBB2569-CC4F-4B03-817B-E5F8CBCED96E}"/>
              </a:ext>
            </a:extLst>
          </p:cNvPr>
          <p:cNvSpPr>
            <a:spLocks xmlns:a="http://schemas.openxmlformats.org/drawingml/2006/main" noGrp="1"/>
          </p:cNvSpPr>
          <p:nvPr/>
        </p:nvSpPr>
        <p:spPr>
          <a:xfrm xmlns:a="http://schemas.openxmlformats.org/drawingml/2006/main">
            <a:off x="3401568" y="2944368"/>
            <a:ext cx="2331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Sustainability</a:t>
            </a:r>
            <a:endParaRPr sz="1200"/>
          </a:p>
        </p:txBody>
      </p:sp>
      <p:sp>
        <p:nvSpPr>
          <p:cNvPr id="24" name="Text 22">
            <a:extLst xmlns:a="http://schemas.openxmlformats.org/drawingml/2006/main">
              <a:ext uri="{FF2B5EF4-FFF2-40B4-BE49-F238E27FC236}">
                <a16:creationId xmlns:a16="http://schemas.microsoft.com/office/drawing/2014/main" id="{6FFC1B61-7628-4F42-BC79-A8FED1515D3A}"/>
              </a:ext>
            </a:extLst>
          </p:cNvPr>
          <p:cNvSpPr>
            <a:spLocks xmlns:a="http://schemas.openxmlformats.org/drawingml/2006/main" noGrp="1"/>
          </p:cNvSpPr>
          <p:nvPr/>
        </p:nvSpPr>
        <p:spPr>
          <a:xfrm xmlns:a="http://schemas.openxmlformats.org/drawingml/2006/main">
            <a:off x="3401568" y="3218688"/>
            <a:ext cx="233172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6B7280"/>
                </a:solidFill>
                <a:latin typeface="Nirmala UI"/>
                <a:ea typeface="Nirmala UI"/>
                <a:cs typeface="Nirmala UI"/>
              </a:rPr>
              <a:t>Use existing smartphones and an offline-first design to control costs. Long-term operation can be supported through departmental budgets, public-health programmes, CSR or implementation partners.</a:t>
            </a:r>
            <a:endParaRPr sz="1000"/>
          </a:p>
        </p:txBody>
      </p:sp>
      <p:sp>
        <p:nvSpPr>
          <p:cNvPr id="25" name="Shape 23">
            <a:extLst xmlns:a="http://schemas.openxmlformats.org/drawingml/2006/main">
              <a:ext uri="{FF2B5EF4-FFF2-40B4-BE49-F238E27FC236}">
                <a16:creationId xmlns:a16="http://schemas.microsoft.com/office/drawing/2014/main" id="{79AADBF6-87A4-49FF-930D-A02B0D78F244}"/>
              </a:ext>
            </a:extLst>
          </p:cNvPr>
          <p:cNvSpPr>
            <a:spLocks xmlns:a="http://schemas.openxmlformats.org/drawingml/2006/main" noGrp="1"/>
          </p:cNvSpPr>
          <p:nvPr/>
        </p:nvSpPr>
        <p:spPr>
          <a:xfrm xmlns:a="http://schemas.openxmlformats.org/drawingml/2006/main">
            <a:off x="6071616" y="2834640"/>
            <a:ext cx="2606040" cy="178308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DEBEF697-5290-43FA-A5AD-CAEE275125A1}"/>
              </a:ext>
            </a:extLst>
          </p:cNvPr>
          <p:cNvSpPr>
            <a:spLocks xmlns:a="http://schemas.openxmlformats.org/drawingml/2006/main" noGrp="1"/>
          </p:cNvSpPr>
          <p:nvPr/>
        </p:nvSpPr>
        <p:spPr>
          <a:xfrm xmlns:a="http://schemas.openxmlformats.org/drawingml/2006/main">
            <a:off x="6208776" y="2944368"/>
            <a:ext cx="2331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Scale-up plan</a:t>
            </a:r>
            <a:endParaRPr sz="1200"/>
          </a:p>
        </p:txBody>
      </p:sp>
      <p:sp>
        <p:nvSpPr>
          <p:cNvPr id="27" name="Text 25">
            <a:extLst xmlns:a="http://schemas.openxmlformats.org/drawingml/2006/main">
              <a:ext uri="{FF2B5EF4-FFF2-40B4-BE49-F238E27FC236}">
                <a16:creationId xmlns:a16="http://schemas.microsoft.com/office/drawing/2014/main" id="{0EDE5773-2127-4959-ADD9-56377B284266}"/>
              </a:ext>
            </a:extLst>
          </p:cNvPr>
          <p:cNvSpPr>
            <a:spLocks xmlns:a="http://schemas.openxmlformats.org/drawingml/2006/main" noGrp="1"/>
          </p:cNvSpPr>
          <p:nvPr/>
        </p:nvSpPr>
        <p:spPr>
          <a:xfrm xmlns:a="http://schemas.openxmlformats.org/drawingml/2006/main">
            <a:off x="6208776" y="3218688"/>
            <a:ext cx="233172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6B7280"/>
                </a:solidFill>
                <a:latin typeface="Nirmala UI"/>
                <a:ea typeface="Nirmala UI"/>
                <a:cs typeface="Nirmala UI"/>
              </a:rPr>
              <a:t>Start with 20–30 ASHA workers in one block, measure usability and outcomes, refine the Marathi voice workflow, then expand district by district and extend the rules engine and language support to other states.</a:t>
            </a:r>
            <a:endParaRPr sz="1000"/>
          </a:p>
        </p:txBody>
      </p:sp>
    </p:spTree>
    <p:extLst>
      <p:ext uri="{BB962C8B-B14F-4D97-AF65-F5344CB8AC3E}">
        <p14:creationId xmlns:p14="http://schemas.microsoft.com/office/powerpoint/2010/main" val="1566674129"/>
      </p:ext>
    </p:extLst>
  </p:cSld>
</p:sld>
</file>

<file path=ppt/slides/slide6.xml><?xml version="1.0" encoding="utf-8"?>
<p:sld xmlns:p="http://schemas.openxmlformats.org/presentationml/2006/main">
  <p:cSld>
    <p:bg>
      <p:bgPr>
        <a:solidFill xmlns:a="http://schemas.openxmlformats.org/drawingml/2006/main">
          <a:srgbClr val="1B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073E6BF-8492-4E4C-B295-42B0BC4953CB}"/>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9297C0E7-7375-4F78-92BF-B246DE3BB70C}"/>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6</a:t>
            </a:r>
            <a:endParaRPr sz="1540"/>
          </a:p>
        </p:txBody>
      </p:sp>
      <p:sp>
        <p:nvSpPr>
          <p:cNvPr id="4" name="Text 2">
            <a:extLst xmlns:a="http://schemas.openxmlformats.org/drawingml/2006/main">
              <a:ext uri="{FF2B5EF4-FFF2-40B4-BE49-F238E27FC236}">
                <a16:creationId xmlns:a16="http://schemas.microsoft.com/office/drawing/2014/main" id="{EF79B201-B1B6-42C1-AA65-5780198D7B47}"/>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FFFFFF"/>
                </a:solidFill>
                <a:latin typeface="Nirmala UI"/>
                <a:ea typeface="Nirmala UI"/>
                <a:cs typeface="Nirmala UI"/>
              </a:rPr>
              <a:t>Team/Individual &amp; Support Required</a:t>
            </a:r>
            <a:endParaRPr sz="2600"/>
          </a:p>
        </p:txBody>
      </p:sp>
      <p:sp>
        <p:nvSpPr>
          <p:cNvPr id="5" name="Text 3">
            <a:extLst xmlns:a="http://schemas.openxmlformats.org/drawingml/2006/main">
              <a:ext uri="{FF2B5EF4-FFF2-40B4-BE49-F238E27FC236}">
                <a16:creationId xmlns:a16="http://schemas.microsoft.com/office/drawing/2014/main" id="{130B9EF4-98A2-49CA-A339-6827F77968B9}"/>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C9D2EC"/>
                </a:solidFill>
                <a:latin typeface="Nirmala UI"/>
                <a:ea typeface="Nirmala UI"/>
                <a:cs typeface="Nirmala UI"/>
              </a:rPr>
              <a:t>Who is behind the idea, and what help do you need from the Challenge?</a:t>
            </a:r>
            <a:endParaRPr sz="1100"/>
          </a:p>
        </p:txBody>
      </p:sp>
      <p:sp>
        <p:nvSpPr>
          <p:cNvPr id="6" name="Shape 4">
            <a:extLst xmlns:a="http://schemas.openxmlformats.org/drawingml/2006/main">
              <a:ext uri="{FF2B5EF4-FFF2-40B4-BE49-F238E27FC236}">
                <a16:creationId xmlns:a16="http://schemas.microsoft.com/office/drawing/2014/main" id="{F43E76A0-AA5F-4E6D-8031-70A4C061E621}"/>
              </a:ext>
            </a:extLst>
          </p:cNvPr>
          <p:cNvSpPr>
            <a:spLocks xmlns:a="http://schemas.openxmlformats.org/drawingml/2006/main" noGrp="1"/>
          </p:cNvSpPr>
          <p:nvPr/>
        </p:nvSpPr>
        <p:spPr>
          <a:xfrm xmlns:a="http://schemas.openxmlformats.org/drawingml/2006/main">
            <a:off x="457200" y="1188720"/>
            <a:ext cx="2240280" cy="1188720"/>
          </a:xfrm>
          <a:prstGeom xmlns:a="http://schemas.openxmlformats.org/drawingml/2006/main" prst="roundRect">
            <a:avLst>
              <a:gd name="adj" fmla="val 6400"/>
            </a:avLst>
          </a:prstGeom>
          <a:solidFill xmlns:a="http://schemas.openxmlformats.org/drawingml/2006/main">
            <a:srgbClr val="253870"/>
          </a:solidFill>
          <a:ln xmlns:a="http://schemas.openxmlformats.org/drawingml/2006/main" w="12700">
            <a:solidFill>
              <a:srgbClr val="253870"/>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8F645488-03EA-4B69-889D-338217CF6FD5}"/>
              </a:ext>
            </a:extLst>
          </p:cNvPr>
          <p:cNvSpPr>
            <a:spLocks xmlns:a="http://schemas.openxmlformats.org/drawingml/2006/main" noGrp="1"/>
          </p:cNvSpPr>
          <p:nvPr/>
        </p:nvSpPr>
        <p:spPr>
          <a:xfrm xmlns:a="http://schemas.openxmlformats.org/drawingml/2006/main">
            <a:off x="594360" y="1371600"/>
            <a:ext cx="502920" cy="502920"/>
          </a:xfrm>
          <a:prstGeom xmlns:a="http://schemas.openxmlformats.org/drawingml/2006/main" prst="ellipse">
            <a:avLst/>
          </a:prstGeom>
          <a:solidFill xmlns:a="http://schemas.openxmlformats.org/drawingml/2006/main">
            <a:srgbClr val="3A4C85"/>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A3E9302B-7044-43AE-BDE3-E75BA319E74F}"/>
              </a:ext>
            </a:extLst>
          </p:cNvPr>
          <p:cNvSpPr>
            <a:spLocks xmlns:a="http://schemas.openxmlformats.org/drawingml/2006/main" noGrp="1"/>
          </p:cNvSpPr>
          <p:nvPr/>
        </p:nvSpPr>
        <p:spPr>
          <a:xfrm xmlns:a="http://schemas.openxmlformats.org/drawingml/2006/main">
            <a:off x="594360" y="13716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endParaRPr sz="700"/>
          </a:p>
        </p:txBody>
      </p:sp>
      <p:sp>
        <p:nvSpPr>
          <p:cNvPr id="9" name="Text 7">
            <a:extLst xmlns:a="http://schemas.openxmlformats.org/drawingml/2006/main">
              <a:ext uri="{FF2B5EF4-FFF2-40B4-BE49-F238E27FC236}">
                <a16:creationId xmlns:a16="http://schemas.microsoft.com/office/drawing/2014/main" id="{7355E8D5-DCA0-4CAD-81DD-904C8054088F}"/>
              </a:ext>
            </a:extLst>
          </p:cNvPr>
          <p:cNvSpPr>
            <a:spLocks xmlns:a="http://schemas.openxmlformats.org/drawingml/2006/main" noGrp="1"/>
          </p:cNvSpPr>
          <p:nvPr/>
        </p:nvSpPr>
        <p:spPr>
          <a:xfrm xmlns:a="http://schemas.openxmlformats.org/drawingml/2006/main">
            <a:off x="1207008" y="1353312"/>
            <a:ext cx="1280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irmala UI"/>
                <a:ea typeface="Nirmala UI"/>
                <a:cs typeface="Nirmala UI"/>
              </a:rPr>
              <a:t>Harshika Thopte</a:t>
            </a:r>
            <a:endParaRPr sz="1050"/>
          </a:p>
        </p:txBody>
      </p:sp>
      <p:sp>
        <p:nvSpPr>
          <p:cNvPr id="10" name="Text 8">
            <a:extLst xmlns:a="http://schemas.openxmlformats.org/drawingml/2006/main">
              <a:ext uri="{FF2B5EF4-FFF2-40B4-BE49-F238E27FC236}">
                <a16:creationId xmlns:a16="http://schemas.microsoft.com/office/drawing/2014/main" id="{073F843D-C86B-45E9-92D4-5E0D4E939672}"/>
              </a:ext>
            </a:extLst>
          </p:cNvPr>
          <p:cNvSpPr>
            <a:spLocks xmlns:a="http://schemas.openxmlformats.org/drawingml/2006/main" noGrp="1"/>
          </p:cNvSpPr>
          <p:nvPr/>
        </p:nvSpPr>
        <p:spPr>
          <a:xfrm xmlns:a="http://schemas.openxmlformats.org/drawingml/2006/main">
            <a:off x="1207008" y="1609344"/>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i="1">
                <a:solidFill>
                  <a:srgbClr val="F28C28"/>
                </a:solidFill>
                <a:latin typeface="Nirmala UI"/>
                <a:ea typeface="Nirmala UI"/>
                <a:cs typeface="Nirmala UI"/>
              </a:rPr>
              <a:t>Project lead &amp; Backend Developer</a:t>
            </a:r>
            <a:endParaRPr sz="900"/>
          </a:p>
        </p:txBody>
      </p:sp>
      <p:sp>
        <p:nvSpPr>
          <p:cNvPr id="11" name="Text 9">
            <a:extLst xmlns:a="http://schemas.openxmlformats.org/drawingml/2006/main">
              <a:ext uri="{FF2B5EF4-FFF2-40B4-BE49-F238E27FC236}">
                <a16:creationId xmlns:a16="http://schemas.microsoft.com/office/drawing/2014/main" id="{D50CF38D-E41E-41B9-A0B9-B6E7E27CED59}"/>
              </a:ext>
            </a:extLst>
          </p:cNvPr>
          <p:cNvSpPr>
            <a:spLocks xmlns:a="http://schemas.openxmlformats.org/drawingml/2006/main" noGrp="1"/>
          </p:cNvSpPr>
          <p:nvPr/>
        </p:nvSpPr>
        <p:spPr>
          <a:xfrm xmlns:a="http://schemas.openxmlformats.org/drawingml/2006/main">
            <a:off x="1207008" y="1962446"/>
            <a:ext cx="1280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850">
                <a:solidFill>
                  <a:schemeClr val="bg1">
                    <a:lumMod val="85000"/>
                  </a:schemeClr>
                </a:solidFill>
              </a:rPr>
              <a:t>https://github.com/Hari-Thopte </a:t>
            </a:r>
          </a:p>
        </p:txBody>
      </p:sp>
      <p:sp>
        <p:nvSpPr>
          <p:cNvPr id="12" name="Shape 10">
            <a:extLst xmlns:a="http://schemas.openxmlformats.org/drawingml/2006/main">
              <a:ext uri="{FF2B5EF4-FFF2-40B4-BE49-F238E27FC236}">
                <a16:creationId xmlns:a16="http://schemas.microsoft.com/office/drawing/2014/main" id="{56C7E327-6E68-481A-B197-738206C8D61B}"/>
              </a:ext>
            </a:extLst>
          </p:cNvPr>
          <p:cNvSpPr>
            <a:spLocks xmlns:a="http://schemas.openxmlformats.org/drawingml/2006/main" noGrp="1"/>
          </p:cNvSpPr>
          <p:nvPr/>
        </p:nvSpPr>
        <p:spPr>
          <a:xfrm xmlns:a="http://schemas.openxmlformats.org/drawingml/2006/main">
            <a:off x="2697480" y="2497016"/>
            <a:ext cx="2103120" cy="1188720"/>
          </a:xfrm>
          <a:prstGeom xmlns:a="http://schemas.openxmlformats.org/drawingml/2006/main" prst="roundRect">
            <a:avLst>
              <a:gd name="adj" fmla="val 6400"/>
            </a:avLst>
          </a:prstGeom>
          <a:solidFill xmlns:a="http://schemas.openxmlformats.org/drawingml/2006/main">
            <a:srgbClr val="253870"/>
          </a:solidFill>
          <a:ln xmlns:a="http://schemas.openxmlformats.org/drawingml/2006/main" w="12700">
            <a:solidFill>
              <a:srgbClr val="253870"/>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19BC833-E6E7-4ABB-B7B2-D77EB062684A}"/>
              </a:ext>
            </a:extLst>
          </p:cNvPr>
          <p:cNvSpPr>
            <a:spLocks xmlns:a="http://schemas.openxmlformats.org/drawingml/2006/main" noGrp="1"/>
          </p:cNvSpPr>
          <p:nvPr/>
        </p:nvSpPr>
        <p:spPr>
          <a:xfrm xmlns:a="http://schemas.openxmlformats.org/drawingml/2006/main">
            <a:off x="2834640" y="2679896"/>
            <a:ext cx="502920" cy="502920"/>
          </a:xfrm>
          <a:prstGeom xmlns:a="http://schemas.openxmlformats.org/drawingml/2006/main" prst="ellipse">
            <a:avLst/>
          </a:prstGeom>
          <a:solidFill xmlns:a="http://schemas.openxmlformats.org/drawingml/2006/main">
            <a:srgbClr val="3A4C85"/>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6528A47A-8290-4956-A003-194C939E5249}"/>
              </a:ext>
            </a:extLst>
          </p:cNvPr>
          <p:cNvSpPr>
            <a:spLocks xmlns:a="http://schemas.openxmlformats.org/drawingml/2006/main" noGrp="1"/>
          </p:cNvSpPr>
          <p:nvPr/>
        </p:nvSpPr>
        <p:spPr>
          <a:xfrm xmlns:a="http://schemas.openxmlformats.org/drawingml/2006/main">
            <a:off x="2834640" y="267989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endParaRPr sz="700"/>
          </a:p>
        </p:txBody>
      </p:sp>
      <p:sp>
        <p:nvSpPr>
          <p:cNvPr id="15" name="Text 13">
            <a:extLst xmlns:a="http://schemas.openxmlformats.org/drawingml/2006/main">
              <a:ext uri="{FF2B5EF4-FFF2-40B4-BE49-F238E27FC236}">
                <a16:creationId xmlns:a16="http://schemas.microsoft.com/office/drawing/2014/main" id="{FB028035-8F27-41E4-99D0-60C6333ADF9E}"/>
              </a:ext>
            </a:extLst>
          </p:cNvPr>
          <p:cNvSpPr>
            <a:spLocks xmlns:a="http://schemas.openxmlformats.org/drawingml/2006/main" noGrp="1"/>
          </p:cNvSpPr>
          <p:nvPr/>
        </p:nvSpPr>
        <p:spPr>
          <a:xfrm xmlns:a="http://schemas.openxmlformats.org/drawingml/2006/main">
            <a:off x="3447288" y="2661608"/>
            <a:ext cx="1280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irmala UI"/>
                <a:ea typeface="Nirmala UI"/>
                <a:cs typeface="Nirmala UI"/>
              </a:rPr>
              <a:t>Ishan Sonawane</a:t>
            </a:r>
            <a:endParaRPr sz="1050"/>
          </a:p>
        </p:txBody>
      </p:sp>
      <p:sp>
        <p:nvSpPr>
          <p:cNvPr id="16" name="Text 14">
            <a:extLst xmlns:a="http://schemas.openxmlformats.org/drawingml/2006/main">
              <a:ext uri="{FF2B5EF4-FFF2-40B4-BE49-F238E27FC236}">
                <a16:creationId xmlns:a16="http://schemas.microsoft.com/office/drawing/2014/main" id="{2EFADE0F-F6B3-439D-9443-637DEDCC1B3D}"/>
              </a:ext>
            </a:extLst>
          </p:cNvPr>
          <p:cNvSpPr>
            <a:spLocks xmlns:a="http://schemas.openxmlformats.org/drawingml/2006/main" noGrp="1"/>
          </p:cNvSpPr>
          <p:nvPr/>
        </p:nvSpPr>
        <p:spPr>
          <a:xfrm xmlns:a="http://schemas.openxmlformats.org/drawingml/2006/main">
            <a:off x="3447288" y="29176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i="1">
                <a:solidFill>
                  <a:srgbClr val="F28C28"/>
                </a:solidFill>
                <a:latin typeface="Nirmala UI"/>
                <a:ea typeface="Nirmala UI"/>
                <a:cs typeface="Nirmala UI"/>
              </a:rPr>
              <a:t>Team Member &amp; Frontend Developer</a:t>
            </a:r>
            <a:endParaRPr sz="900"/>
          </a:p>
        </p:txBody>
      </p:sp>
      <p:sp>
        <p:nvSpPr>
          <p:cNvPr id="17" name="Text 15">
            <a:extLst xmlns:a="http://schemas.openxmlformats.org/drawingml/2006/main">
              <a:ext uri="{FF2B5EF4-FFF2-40B4-BE49-F238E27FC236}">
                <a16:creationId xmlns:a16="http://schemas.microsoft.com/office/drawing/2014/main" id="{4A281CF3-A412-4C5D-8700-936D874C2723}"/>
              </a:ext>
            </a:extLst>
          </p:cNvPr>
          <p:cNvSpPr>
            <a:spLocks xmlns:a="http://schemas.openxmlformats.org/drawingml/2006/main" noGrp="1"/>
          </p:cNvSpPr>
          <p:nvPr/>
        </p:nvSpPr>
        <p:spPr>
          <a:xfrm xmlns:a="http://schemas.openxmlformats.org/drawingml/2006/main">
            <a:off x="3447288" y="3284810"/>
            <a:ext cx="1280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850">
                <a:solidFill>
                  <a:schemeClr val="bg1">
                    <a:lumMod val="85000"/>
                  </a:schemeClr>
                </a:solidFill>
              </a:rPr>
              <a:t>https://github.com/Ishan-sonawane</a:t>
            </a:r>
          </a:p>
        </p:txBody>
      </p:sp>
      <p:sp>
        <p:nvSpPr>
          <p:cNvPr id="30" name="Text 28">
            <a:extLst xmlns:a="http://schemas.openxmlformats.org/drawingml/2006/main">
              <a:ext uri="{FF2B5EF4-FFF2-40B4-BE49-F238E27FC236}">
                <a16:creationId xmlns:a16="http://schemas.microsoft.com/office/drawing/2014/main" id="{62F61DEF-8E87-4D79-95DC-3EF92EA59001}"/>
              </a:ext>
            </a:extLst>
          </p:cNvPr>
          <p:cNvSpPr>
            <a:spLocks xmlns:a="http://schemas.openxmlformats.org/drawingml/2006/main" noGrp="1"/>
          </p:cNvSpPr>
          <p:nvPr/>
        </p:nvSpPr>
        <p:spPr>
          <a:xfrm xmlns:a="http://schemas.openxmlformats.org/drawingml/2006/main">
            <a:off x="457200" y="384048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i="1">
                <a:solidFill>
                  <a:srgbClr val="C9D2EC"/>
                </a:solidFill>
                <a:latin typeface="Nirmala UI"/>
                <a:ea typeface="Nirmala UI"/>
                <a:cs typeface="Nirmala UI"/>
              </a:rPr>
              <a:t>Faculty guide: Mr. Pramod Patil [Assistant Professor]</a:t>
            </a:r>
            <a:endParaRPr sz="950"/>
          </a:p>
        </p:txBody>
      </p:sp>
      <p:sp>
        <p:nvSpPr>
          <p:cNvPr id="31" name="Shape 29">
            <a:extLst xmlns:a="http://schemas.openxmlformats.org/drawingml/2006/main">
              <a:ext uri="{FF2B5EF4-FFF2-40B4-BE49-F238E27FC236}">
                <a16:creationId xmlns:a16="http://schemas.microsoft.com/office/drawing/2014/main" id="{22DE8598-0E64-4FF7-9BAA-96E7475EABB4}"/>
              </a:ext>
            </a:extLst>
          </p:cNvPr>
          <p:cNvSpPr>
            <a:spLocks xmlns:a="http://schemas.openxmlformats.org/drawingml/2006/main" noGrp="1"/>
          </p:cNvSpPr>
          <p:nvPr/>
        </p:nvSpPr>
        <p:spPr>
          <a:xfrm xmlns:a="http://schemas.openxmlformats.org/drawingml/2006/main">
            <a:off x="5120640" y="1188720"/>
            <a:ext cx="3566160" cy="3383280"/>
          </a:xfrm>
          <a:prstGeom xmlns:a="http://schemas.openxmlformats.org/drawingml/2006/main" prst="roundRect">
            <a:avLst>
              <a:gd name="adj" fmla="val 2703"/>
            </a:avLst>
          </a:prstGeom>
          <a:solidFill xmlns:a="http://schemas.openxmlformats.org/drawingml/2006/main">
            <a:srgbClr val="FFFFFF"/>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50D8838A-F8CC-41DF-BAFA-63646426C5F0}"/>
              </a:ext>
            </a:extLst>
          </p:cNvPr>
          <p:cNvSpPr>
            <a:spLocks xmlns:a="http://schemas.openxmlformats.org/drawingml/2006/main" noGrp="1"/>
          </p:cNvSpPr>
          <p:nvPr/>
        </p:nvSpPr>
        <p:spPr>
          <a:xfrm xmlns:a="http://schemas.openxmlformats.org/drawingml/2006/main">
            <a:off x="5303520" y="1325880"/>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Support we are seeking</a:t>
            </a:r>
            <a:endParaRPr sz="1300"/>
          </a:p>
        </p:txBody>
      </p:sp>
      <p:sp>
        <p:nvSpPr>
          <p:cNvPr id="33" name="Shape 31">
            <a:extLst xmlns:a="http://schemas.openxmlformats.org/drawingml/2006/main">
              <a:ext uri="{FF2B5EF4-FFF2-40B4-BE49-F238E27FC236}">
                <a16:creationId xmlns:a16="http://schemas.microsoft.com/office/drawing/2014/main" id="{0E9D4954-0210-49EF-A315-C9F15E8623F3}"/>
              </a:ext>
            </a:extLst>
          </p:cNvPr>
          <p:cNvSpPr>
            <a:spLocks xmlns:a="http://schemas.openxmlformats.org/drawingml/2006/main" noGrp="1"/>
          </p:cNvSpPr>
          <p:nvPr/>
        </p:nvSpPr>
        <p:spPr>
          <a:xfrm xmlns:a="http://schemas.openxmlformats.org/drawingml/2006/main">
            <a:off x="5349240" y="1764792"/>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66074AA7-5121-4EF5-8F49-E76DC8BA46AA}"/>
              </a:ext>
            </a:extLst>
          </p:cNvPr>
          <p:cNvSpPr>
            <a:spLocks xmlns:a="http://schemas.openxmlformats.org/drawingml/2006/main" noGrp="1"/>
          </p:cNvSpPr>
          <p:nvPr/>
        </p:nvSpPr>
        <p:spPr>
          <a:xfrm xmlns:a="http://schemas.openxmlformats.org/drawingml/2006/main">
            <a:off x="5669280" y="173736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Mentorship &amp; technical guidance</a:t>
            </a:r>
            <a:endParaRPr sz="1050"/>
          </a:p>
        </p:txBody>
      </p:sp>
      <p:sp>
        <p:nvSpPr>
          <p:cNvPr id="35" name="Shape 33">
            <a:extLst xmlns:a="http://schemas.openxmlformats.org/drawingml/2006/main">
              <a:ext uri="{FF2B5EF4-FFF2-40B4-BE49-F238E27FC236}">
                <a16:creationId xmlns:a16="http://schemas.microsoft.com/office/drawing/2014/main" id="{DC199090-7030-4AA0-AD0B-7E8BC98DF4FE}"/>
              </a:ext>
            </a:extLst>
          </p:cNvPr>
          <p:cNvSpPr>
            <a:spLocks xmlns:a="http://schemas.openxmlformats.org/drawingml/2006/main" noGrp="1"/>
          </p:cNvSpPr>
          <p:nvPr/>
        </p:nvSpPr>
        <p:spPr>
          <a:xfrm xmlns:a="http://schemas.openxmlformats.org/drawingml/2006/main">
            <a:off x="5349240" y="2148840"/>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BA1C924F-9EE7-4153-A6A9-1023E7D7BEF6}"/>
              </a:ext>
            </a:extLst>
          </p:cNvPr>
          <p:cNvSpPr>
            <a:spLocks xmlns:a="http://schemas.openxmlformats.org/drawingml/2006/main" noGrp="1"/>
          </p:cNvSpPr>
          <p:nvPr/>
        </p:nvSpPr>
        <p:spPr>
          <a:xfrm xmlns:a="http://schemas.openxmlformats.org/drawingml/2006/main">
            <a:off x="5669280" y="21214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Pilot with a government department</a:t>
            </a:r>
            <a:endParaRPr sz="1050"/>
          </a:p>
        </p:txBody>
      </p:sp>
      <p:sp>
        <p:nvSpPr>
          <p:cNvPr id="37" name="Shape 35">
            <a:extLst xmlns:a="http://schemas.openxmlformats.org/drawingml/2006/main">
              <a:ext uri="{FF2B5EF4-FFF2-40B4-BE49-F238E27FC236}">
                <a16:creationId xmlns:a16="http://schemas.microsoft.com/office/drawing/2014/main" id="{A0F7CC27-7BF8-4F2D-AB52-7496BC370B07}"/>
              </a:ext>
            </a:extLst>
          </p:cNvPr>
          <p:cNvSpPr>
            <a:spLocks xmlns:a="http://schemas.openxmlformats.org/drawingml/2006/main" noGrp="1"/>
          </p:cNvSpPr>
          <p:nvPr/>
        </p:nvSpPr>
        <p:spPr>
          <a:xfrm xmlns:a="http://schemas.openxmlformats.org/drawingml/2006/main">
            <a:off x="5349240" y="2532888"/>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5E778-E15B-4026-96D9-2474A7131264}"/>
              </a:ext>
            </a:extLst>
          </p:cNvPr>
          <p:cNvSpPr>
            <a:spLocks xmlns:a="http://schemas.openxmlformats.org/drawingml/2006/main" noGrp="1"/>
          </p:cNvSpPr>
          <p:nvPr/>
        </p:nvSpPr>
        <p:spPr>
          <a:xfrm xmlns:a="http://schemas.openxmlformats.org/drawingml/2006/main">
            <a:off x="5669280" y="2505456"/>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Funding / grant support</a:t>
            </a:r>
            <a:endParaRPr sz="1050"/>
          </a:p>
        </p:txBody>
      </p:sp>
      <p:sp>
        <p:nvSpPr>
          <p:cNvPr id="39" name="Shape 37">
            <a:extLst xmlns:a="http://schemas.openxmlformats.org/drawingml/2006/main">
              <a:ext uri="{FF2B5EF4-FFF2-40B4-BE49-F238E27FC236}">
                <a16:creationId xmlns:a16="http://schemas.microsoft.com/office/drawing/2014/main" id="{3EDA4654-6BE1-421C-81D1-1CC487D9D54F}"/>
              </a:ext>
            </a:extLst>
          </p:cNvPr>
          <p:cNvSpPr>
            <a:spLocks xmlns:a="http://schemas.openxmlformats.org/drawingml/2006/main" noGrp="1"/>
          </p:cNvSpPr>
          <p:nvPr/>
        </p:nvSpPr>
        <p:spPr>
          <a:xfrm xmlns:a="http://schemas.openxmlformats.org/drawingml/2006/main">
            <a:off x="5349240" y="2916936"/>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DE67F282-1154-47EC-846E-BF0BD863EC12}"/>
              </a:ext>
            </a:extLst>
          </p:cNvPr>
          <p:cNvSpPr>
            <a:spLocks xmlns:a="http://schemas.openxmlformats.org/drawingml/2006/main" noGrp="1"/>
          </p:cNvSpPr>
          <p:nvPr/>
        </p:nvSpPr>
        <p:spPr>
          <a:xfrm xmlns:a="http://schemas.openxmlformats.org/drawingml/2006/main">
            <a:off x="5669280" y="2889504"/>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Incubation &amp; workspace</a:t>
            </a:r>
            <a:endParaRPr sz="1050"/>
          </a:p>
        </p:txBody>
      </p:sp>
      <p:sp>
        <p:nvSpPr>
          <p:cNvPr id="41" name="Shape 39">
            <a:extLst xmlns:a="http://schemas.openxmlformats.org/drawingml/2006/main">
              <a:ext uri="{FF2B5EF4-FFF2-40B4-BE49-F238E27FC236}">
                <a16:creationId xmlns:a16="http://schemas.microsoft.com/office/drawing/2014/main" id="{41B98666-2016-4E04-8FA5-6A3E895CB258}"/>
              </a:ext>
            </a:extLst>
          </p:cNvPr>
          <p:cNvSpPr>
            <a:spLocks xmlns:a="http://schemas.openxmlformats.org/drawingml/2006/main" noGrp="1"/>
          </p:cNvSpPr>
          <p:nvPr/>
        </p:nvSpPr>
        <p:spPr>
          <a:xfrm xmlns:a="http://schemas.openxmlformats.org/drawingml/2006/main">
            <a:off x="5349240" y="3300984"/>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B3DEDDFE-ADCE-4783-A2F7-8AAAD9EB6DE1}"/>
              </a:ext>
            </a:extLst>
          </p:cNvPr>
          <p:cNvSpPr>
            <a:spLocks xmlns:a="http://schemas.openxmlformats.org/drawingml/2006/main" noGrp="1"/>
          </p:cNvSpPr>
          <p:nvPr/>
        </p:nvSpPr>
        <p:spPr>
          <a:xfrm xmlns:a="http://schemas.openxmlformats.org/drawingml/2006/main">
            <a:off x="5669280" y="3273552"/>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Testing, certification or IP support</a:t>
            </a:r>
            <a:endParaRPr sz="1050"/>
          </a:p>
        </p:txBody>
      </p:sp>
      <p:sp>
        <p:nvSpPr>
          <p:cNvPr id="43" name="Text 41">
            <a:extLst xmlns:a="http://schemas.openxmlformats.org/drawingml/2006/main">
              <a:ext uri="{FF2B5EF4-FFF2-40B4-BE49-F238E27FC236}">
                <a16:creationId xmlns:a16="http://schemas.microsoft.com/office/drawing/2014/main" id="{D82E3785-4DCA-4490-A1A6-ECB53F4A43A1}"/>
              </a:ext>
            </a:extLst>
          </p:cNvPr>
          <p:cNvSpPr>
            <a:spLocks xmlns:a="http://schemas.openxmlformats.org/drawingml/2006/main" noGrp="1"/>
          </p:cNvSpPr>
          <p:nvPr/>
        </p:nvSpPr>
        <p:spPr>
          <a:xfrm xmlns:a="http://schemas.openxmlformats.org/drawingml/2006/main">
            <a:off x="5303520" y="3703320"/>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i="1">
                <a:solidFill>
                  <a:srgbClr val="6B7280"/>
                </a:solidFill>
                <a:latin typeface="Nirmala UI"/>
                <a:ea typeface="Nirmala UI"/>
                <a:cs typeface="Nirmala UI"/>
              </a:rPr>
              <a:t>Challenge support will help us refine the working prototype and run a 20–30-worker block-level pilot, generating evidence for wider government adoption.</a:t>
            </a:r>
            <a:endParaRPr sz="950"/>
          </a:p>
        </p:txBody>
      </p:sp>
      <p:sp>
        <p:nvSpPr>
          <p:cNvPr id="44" name="Text 42">
            <a:extLst xmlns:a="http://schemas.openxmlformats.org/drawingml/2006/main">
              <a:ext uri="{FF2B5EF4-FFF2-40B4-BE49-F238E27FC236}">
                <a16:creationId xmlns:a16="http://schemas.microsoft.com/office/drawing/2014/main" id="{CB2BF470-A5BE-4098-AA7F-9B2FA94C5120}"/>
              </a:ext>
            </a:extLst>
          </p:cNvPr>
          <p:cNvSpPr>
            <a:spLocks xmlns:a="http://schemas.openxmlformats.org/drawingml/2006/main" noGrp="1"/>
          </p:cNvSpPr>
          <p:nvPr/>
        </p:nvSpPr>
        <p:spPr>
          <a:xfrm xmlns:a="http://schemas.openxmlformats.org/drawingml/2006/main">
            <a:off x="1434904" y="4343400"/>
            <a:ext cx="3411415" cy="4526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00" b="1">
                <a:solidFill>
                  <a:srgbClr val="F28C28"/>
                </a:solidFill>
                <a:latin typeface="Nirmala UI"/>
                <a:ea typeface="Nirmala UI"/>
                <a:cs typeface="Nirmala UI"/>
              </a:rPr>
              <a:t>[harshikathopte@gmail.com / 8329373147]</a:t>
            </a:r>
          </a:p>
          <a:p xmlns:a="http://schemas.openxmlformats.org/drawingml/2006/main">
            <a:r>
              <a:rPr sz="1100" b="1">
                <a:solidFill>
                  <a:srgbClr val="F28C28"/>
                </a:solidFill>
                <a:latin typeface="Nirmala UI"/>
                <a:ea typeface="Nirmala UI"/>
                <a:cs typeface="Nirmala UI"/>
              </a:rPr>
              <a:t>[Ishan.naruto10@gmail.com / 8108090272]</a:t>
            </a:r>
            <a:endParaRPr sz="1100"/>
          </a:p>
        </p:txBody>
      </p:sp>
      <p:sp>
        <p:nvSpPr>
          <p:cNvPr id="45" name="Text 43">
            <a:extLst xmlns:a="http://schemas.openxmlformats.org/drawingml/2006/main">
              <a:ext uri="{FF2B5EF4-FFF2-40B4-BE49-F238E27FC236}">
                <a16:creationId xmlns:a16="http://schemas.microsoft.com/office/drawing/2014/main" id="{648A0593-F83D-4317-9194-B83FFDD1B390}"/>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C9D2EC"/>
                </a:solidFill>
                <a:latin typeface="Nirmala UI"/>
                <a:ea typeface="Nirmala UI"/>
                <a:cs typeface="Nirmala UI"/>
              </a:rPr>
              <a:t>Seva Innovation Challenge 2026  |  Slide 6 of 6</a:t>
            </a:r>
            <a:endParaRPr sz="800"/>
          </a:p>
        </p:txBody>
      </p:sp>
      <p:sp>
        <p:nvSpPr>
          <p:cNvPr id="49" name="Straight Connector 48">
            <a:extLst xmlns:a="http://schemas.openxmlformats.org/drawingml/2006/main">
              <a:ext uri="{FF2B5EF4-FFF2-40B4-BE49-F238E27FC236}">
                <a16:creationId xmlns:a16="http://schemas.microsoft.com/office/drawing/2014/main" id="{ABC2183B-A783-459B-9025-82B78DEBD45C}"/>
              </a:ext>
            </a:extLst>
          </p:cNvPr>
          <p:cNvSpPr>
            <a:spLocks xmlns:a="http://schemas.openxmlformats.org/drawingml/2006/main" noGrp="1"/>
          </p:cNvSpPr>
          <p:nvPr/>
        </p:nvSpPr>
        <p:spPr>
          <a:xfrm xmlns:a="http://schemas.openxmlformats.org/drawingml/2006/main">
            <a:off x="1221076" y="4329332"/>
            <a:ext cx="0" cy="390378"/>
          </a:xfrm>
          <a:prstGeom xmlns:a="http://schemas.openxmlformats.org/drawingml/2006/main" prst="line">
            <a:avLst/>
          </a:prstGeom>
          <a:ln xmlns:a="http://schemas.openxmlformats.org/drawingml/2006/main">
            <a:solidFill>
              <a:schemeClr val="accent2"/>
            </a:solidFill>
          </a:ln>
        </p:spPr>
        <p:style>
          <a:lnRef xmlns:a="http://schemas.openxmlformats.org/drawingml/2006/main" idx="3">
            <a:schemeClr val="accent4"/>
          </a:lnRef>
          <a:fillRef xmlns:a="http://schemas.openxmlformats.org/drawingml/2006/main" idx="0">
            <a:schemeClr val="accent4"/>
          </a:fillRef>
          <a:effectRef xmlns:a="http://schemas.openxmlformats.org/drawingml/2006/main" idx="2">
            <a:schemeClr val="accent4"/>
          </a:effectRef>
          <a:fontRef xmlns:a="http://schemas.openxmlformats.org/drawingml/2006/main" idx="minor">
            <a:schemeClr val="tx1"/>
          </a:fontRef>
        </p:style>
      </p:sp>
      <p:sp>
        <p:nvSpPr>
          <p:cNvPr id="50" name="TextBox 49">
            <a:extLst xmlns:a="http://schemas.openxmlformats.org/drawingml/2006/main">
              <a:ext uri="{FF2B5EF4-FFF2-40B4-BE49-F238E27FC236}">
                <a16:creationId xmlns:a16="http://schemas.microsoft.com/office/drawing/2014/main" id="{7FFF08B6-952A-2A36-1214-321C52E19132}"/>
              </a:ext>
            </a:extLst>
          </p:cNvPr>
          <p:cNvSpPr>
            <a:spLocks xmlns:a="http://schemas.openxmlformats.org/drawingml/2006/main" noGrp="1"/>
          </p:cNvSpPr>
          <p:nvPr/>
        </p:nvSpPr>
        <p:spPr>
          <a:xfrm xmlns:a="http://schemas.openxmlformats.org/drawingml/2006/main">
            <a:off x="77373" y="4385604"/>
            <a:ext cx="1019906"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1">
                <a:solidFill>
                  <a:srgbClr val="F28C28"/>
                </a:solidFill>
                <a:latin typeface="Nirmala UI"/>
                <a:ea typeface="Nirmala UI"/>
                <a:cs typeface="Nirmala UI"/>
              </a:rPr>
              <a:t>Thank you</a:t>
            </a:r>
            <a:endParaRPr sz="1100"/>
          </a:p>
        </p:txBody>
      </p:sp>
      <p:sp>
        <p:nvSpPr>
          <p:cNvPr id="22" name="Freeform: Shape 21">
            <a:extLst xmlns:a="http://schemas.openxmlformats.org/drawingml/2006/main">
              <a:ext uri="{FF2B5EF4-FFF2-40B4-BE49-F238E27FC236}">
                <a16:creationId xmlns:a16="http://schemas.microsoft.com/office/drawing/2014/main" id="{CC89CAA3-A00E-C3DE-D361-77D13301507C}"/>
              </a:ext>
            </a:extLst>
          </p:cNvPr>
          <p:cNvSpPr>
            <a:spLocks xmlns:a="http://schemas.openxmlformats.org/drawingml/2006/main" noGrp="1"/>
          </p:cNvSpPr>
          <p:nvPr/>
        </p:nvSpPr>
        <p:spPr>
          <a:xfrm xmlns:a="http://schemas.openxmlformats.org/drawingml/2006/main">
            <a:off x="5220570" y="3228544"/>
            <a:ext cx="399473" cy="285419"/>
          </a:xfrm>
          <a:custGeom xmlns:a="http://schemas.openxmlformats.org/drawingml/2006/main">
            <a:gdLst>
              <a:gd name="csX0" fmla="*/ 12612 w 399473"/>
              <a:gd name="csY0" fmla="*/ 140677 h 285419"/>
              <a:gd name="csX1" fmla="*/ 47781 w 399473"/>
              <a:gd name="csY1" fmla="*/ 281354 h 285419"/>
              <a:gd name="csX2" fmla="*/ 399473 w 399473"/>
              <a:gd name="csY2" fmla="*/ 0 h 285419"/>
            </a:gdLst>
            <a:rect l="l" t="t" r="r" b="b"/>
            <a:pathLst>
              <a:path w="399473" h="285419">
                <a:moveTo>
                  <a:pt x="12612" y="140677"/>
                </a:moveTo>
                <a:cubicBezTo>
                  <a:pt x="-2042" y="222738"/>
                  <a:pt x="-16696" y="304800"/>
                  <a:pt x="47781" y="281354"/>
                </a:cubicBezTo>
                <a:cubicBezTo>
                  <a:pt x="112258" y="257908"/>
                  <a:pt x="255865" y="128954"/>
                  <a:pt x="399473" y="0"/>
                </a:cubicBezTo>
              </a:path>
            </a:pathLst>
          </a:cu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Freeform: Shape 23">
            <a:extLst xmlns:a="http://schemas.openxmlformats.org/drawingml/2006/main">
              <a:ext uri="{FF2B5EF4-FFF2-40B4-BE49-F238E27FC236}">
                <a16:creationId xmlns:a16="http://schemas.microsoft.com/office/drawing/2014/main" id="{32553AFA-5B9A-0BA6-BB33-B277435DEEE9}"/>
              </a:ext>
            </a:extLst>
          </p:cNvPr>
          <p:cNvSpPr>
            <a:spLocks xmlns:a="http://schemas.openxmlformats.org/drawingml/2006/main" noGrp="1"/>
          </p:cNvSpPr>
          <p:nvPr/>
        </p:nvSpPr>
        <p:spPr>
          <a:xfrm xmlns:a="http://schemas.openxmlformats.org/drawingml/2006/main">
            <a:off x="5218222" y="2473574"/>
            <a:ext cx="399473" cy="285419"/>
          </a:xfrm>
          <a:custGeom xmlns:a="http://schemas.openxmlformats.org/drawingml/2006/main">
            <a:gdLst>
              <a:gd name="csX0" fmla="*/ 12612 w 399473"/>
              <a:gd name="csY0" fmla="*/ 140677 h 285419"/>
              <a:gd name="csX1" fmla="*/ 47781 w 399473"/>
              <a:gd name="csY1" fmla="*/ 281354 h 285419"/>
              <a:gd name="csX2" fmla="*/ 399473 w 399473"/>
              <a:gd name="csY2" fmla="*/ 0 h 285419"/>
            </a:gdLst>
            <a:rect l="l" t="t" r="r" b="b"/>
            <a:pathLst>
              <a:path w="399473" h="285419">
                <a:moveTo>
                  <a:pt x="12612" y="140677"/>
                </a:moveTo>
                <a:cubicBezTo>
                  <a:pt x="-2042" y="222738"/>
                  <a:pt x="-16696" y="304800"/>
                  <a:pt x="47781" y="281354"/>
                </a:cubicBezTo>
                <a:cubicBezTo>
                  <a:pt x="112258" y="257908"/>
                  <a:pt x="255865" y="128954"/>
                  <a:pt x="399473" y="0"/>
                </a:cubicBezTo>
              </a:path>
            </a:pathLst>
          </a:cu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Freeform: Shape 27">
            <a:extLst xmlns:a="http://schemas.openxmlformats.org/drawingml/2006/main">
              <a:ext uri="{FF2B5EF4-FFF2-40B4-BE49-F238E27FC236}">
                <a16:creationId xmlns:a16="http://schemas.microsoft.com/office/drawing/2014/main" id="{6BA56CAF-DEF0-5D3C-C272-7C1F0FA32EFC}"/>
              </a:ext>
            </a:extLst>
          </p:cNvPr>
          <p:cNvSpPr>
            <a:spLocks xmlns:a="http://schemas.openxmlformats.org/drawingml/2006/main" noGrp="1"/>
          </p:cNvSpPr>
          <p:nvPr/>
        </p:nvSpPr>
        <p:spPr>
          <a:xfrm xmlns:a="http://schemas.openxmlformats.org/drawingml/2006/main">
            <a:off x="5229942" y="2084368"/>
            <a:ext cx="399473" cy="285419"/>
          </a:xfrm>
          <a:custGeom xmlns:a="http://schemas.openxmlformats.org/drawingml/2006/main">
            <a:gdLst>
              <a:gd name="csX0" fmla="*/ 12612 w 399473"/>
              <a:gd name="csY0" fmla="*/ 140677 h 285419"/>
              <a:gd name="csX1" fmla="*/ 47781 w 399473"/>
              <a:gd name="csY1" fmla="*/ 281354 h 285419"/>
              <a:gd name="csX2" fmla="*/ 399473 w 399473"/>
              <a:gd name="csY2" fmla="*/ 0 h 285419"/>
            </a:gdLst>
            <a:rect l="l" t="t" r="r" b="b"/>
            <a:pathLst>
              <a:path w="399473" h="285419">
                <a:moveTo>
                  <a:pt x="12612" y="140677"/>
                </a:moveTo>
                <a:cubicBezTo>
                  <a:pt x="-2042" y="222738"/>
                  <a:pt x="-16696" y="304800"/>
                  <a:pt x="47781" y="281354"/>
                </a:cubicBezTo>
                <a:cubicBezTo>
                  <a:pt x="112258" y="257908"/>
                  <a:pt x="255865" y="128954"/>
                  <a:pt x="399473" y="0"/>
                </a:cubicBezTo>
              </a:path>
            </a:pathLst>
          </a:cu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Freeform: Shape 45">
            <a:extLst xmlns:a="http://schemas.openxmlformats.org/drawingml/2006/main">
              <a:ext uri="{FF2B5EF4-FFF2-40B4-BE49-F238E27FC236}">
                <a16:creationId xmlns:a16="http://schemas.microsoft.com/office/drawing/2014/main" id="{3411FD3C-87DE-952E-753C-613C4C5F945A}"/>
              </a:ext>
            </a:extLst>
          </p:cNvPr>
          <p:cNvSpPr>
            <a:spLocks xmlns:a="http://schemas.openxmlformats.org/drawingml/2006/main" noGrp="1"/>
          </p:cNvSpPr>
          <p:nvPr/>
        </p:nvSpPr>
        <p:spPr>
          <a:xfrm xmlns:a="http://schemas.openxmlformats.org/drawingml/2006/main">
            <a:off x="5206493" y="1709228"/>
            <a:ext cx="399473" cy="285419"/>
          </a:xfrm>
          <a:custGeom xmlns:a="http://schemas.openxmlformats.org/drawingml/2006/main">
            <a:gdLst>
              <a:gd name="csX0" fmla="*/ 12612 w 399473"/>
              <a:gd name="csY0" fmla="*/ 140677 h 285419"/>
              <a:gd name="csX1" fmla="*/ 47781 w 399473"/>
              <a:gd name="csY1" fmla="*/ 281354 h 285419"/>
              <a:gd name="csX2" fmla="*/ 399473 w 399473"/>
              <a:gd name="csY2" fmla="*/ 0 h 285419"/>
            </a:gdLst>
            <a:rect l="l" t="t" r="r" b="b"/>
            <a:pathLst>
              <a:path w="399473" h="285419">
                <a:moveTo>
                  <a:pt x="12612" y="140677"/>
                </a:moveTo>
                <a:cubicBezTo>
                  <a:pt x="-2042" y="222738"/>
                  <a:pt x="-16696" y="304800"/>
                  <a:pt x="47781" y="281354"/>
                </a:cubicBezTo>
                <a:cubicBezTo>
                  <a:pt x="112258" y="257908"/>
                  <a:pt x="255865" y="128954"/>
                  <a:pt x="399473" y="0"/>
                </a:cubicBezTo>
              </a:path>
            </a:pathLst>
          </a:cu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48839309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2026-10-29T17:37:19.6710000Z</dcterms:created>
  <dcterms:modified xsi:type="dcterms:W3CDTF">2026-10-29T17:37:19.6720000Z</dcterms:modified>
</coreProperties>
</file>